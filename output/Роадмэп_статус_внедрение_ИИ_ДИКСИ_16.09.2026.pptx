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 snapToObjects="1">
      <p:cViewPr varScale="1">
        <p:scale>
          <a:sx n="107" d="100"/>
          <a:sy n="107" d="100"/>
        </p:scale>
        <p:origin x="6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РОАДМЭП · СТАТУС НА 16.09.2026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Идёт подготовка пилота: оптимизирована работа со списками, выделены основные сегменты, готовятся первые коммуникации; пилот — 20–30 сентября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16.09.2026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276148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2761488" cy="822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444751"/>
            <a:ext cx="248716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9E5B"/>
                </a:solidFill>
                <a:latin typeface="Arial"/>
              </a:rPr>
              <a:t>ЭТАП 1 · ДЦО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00784"/>
            <a:ext cx="248716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6 из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75688"/>
            <a:ext cx="2487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задач этапа закрыто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298448"/>
            <a:ext cx="276148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11296" y="1298448"/>
            <a:ext cx="2761488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8" y="1444751"/>
            <a:ext cx="248716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E7203"/>
                </a:solidFill>
                <a:latin typeface="Arial"/>
              </a:rPr>
              <a:t>СЕНТЯБРЬ · ДЦО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1700784"/>
            <a:ext cx="248716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+43 млн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075688"/>
            <a:ext cx="2487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доп. ТО, расчёт от 02.09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(в плане было 27 млн ₽)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1298448"/>
            <a:ext cx="276148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73952" y="1298448"/>
            <a:ext cx="2761488" cy="822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8544" y="1444751"/>
            <a:ext cx="248716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C4AB6"/>
                </a:solidFill>
                <a:latin typeface="Arial"/>
              </a:rPr>
              <a:t>ПОДГОТОВКА ПИЛОТА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1700784"/>
            <a:ext cx="248716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В работе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075688"/>
            <a:ext cx="2487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списки оптимизированы,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основные сегменты выделены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1298448"/>
            <a:ext cx="276148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436608" y="1298448"/>
            <a:ext cx="2761488" cy="82296"/>
          </a:xfrm>
          <a:prstGeom prst="rect">
            <a:avLst/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1444751"/>
            <a:ext cx="2487168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1E2F"/>
                </a:solidFill>
                <a:latin typeface="Arial"/>
              </a:rPr>
              <a:t>ПИЛОТ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700784"/>
            <a:ext cx="248716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20–30 сентября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75688"/>
            <a:ext cx="2487168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первые коммуникации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по сегментам готовятся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743200"/>
            <a:ext cx="11155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ЧЕТЫРЕ ЭТАПА · АВГУСТ 2026 — МАРТ 2027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054096"/>
            <a:ext cx="2724912" cy="1463040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3054096"/>
            <a:ext cx="2724912" cy="6400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182112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1 · авг–окт 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419856"/>
            <a:ext cx="243230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1E2F"/>
                </a:solidFill>
                <a:latin typeface="Arial"/>
              </a:rPr>
              <a:t>Персонализация ДЦО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767328"/>
            <a:ext cx="2432304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Сервис, данные, MCI, КГ,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движок текстов, контент ДЦО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206240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670 ч · </a:t>
            </a:r>
            <a:r>
              <a:rPr sz="1150" b="1">
                <a:solidFill>
                  <a:srgbClr val="2E9E5B"/>
                </a:solidFill>
                <a:latin typeface="Arial"/>
              </a:rPr>
              <a:t>Этап в работе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314700" y="3657600"/>
            <a:ext cx="137160" cy="274320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493008" y="3054096"/>
            <a:ext cx="2724912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93008" y="3054096"/>
            <a:ext cx="2724912" cy="640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0" y="3182112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2 · ноя 26 – янв 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419856"/>
            <a:ext cx="243230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1E2F"/>
                </a:solidFill>
                <a:latin typeface="Arial"/>
              </a:rPr>
              <a:t>CVM: 100 сегментов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767328"/>
            <a:ext cx="2432304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100 сегментов, конвейер контента,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интерфейс, агенты, дашборды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206240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1 202 ч · </a:t>
            </a:r>
            <a:r>
              <a:rPr sz="1150" b="1">
                <a:solidFill>
                  <a:srgbClr val="EE7203"/>
                </a:solidFill>
                <a:latin typeface="Arial"/>
              </a:rPr>
              <a:t>В работе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259068" y="3657600"/>
            <a:ext cx="137160" cy="274320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437375" y="3054096"/>
            <a:ext cx="2724912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37375" y="3054096"/>
            <a:ext cx="2724912" cy="64008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01967" y="3182112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3 · фев 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7" y="3419856"/>
            <a:ext cx="243230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1E2F"/>
                </a:solidFill>
                <a:latin typeface="Arial"/>
              </a:rPr>
              <a:t>Масштаб 200 акций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7" y="3767328"/>
            <a:ext cx="2432304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Оптимизатор, 200 акций,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передача сервиса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7" y="4206240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310 ч · </a:t>
            </a:r>
            <a:r>
              <a:rPr sz="1150" b="1">
                <a:solidFill>
                  <a:srgbClr val="B9BFCA"/>
                </a:solidFill>
                <a:latin typeface="Arial"/>
              </a:rPr>
              <a:t>План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203436" y="3657600"/>
            <a:ext cx="137160" cy="274320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381744" y="3054096"/>
            <a:ext cx="2724912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381744" y="3054096"/>
            <a:ext cx="2724912" cy="64008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46336" y="3182112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4 · мар 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46336" y="3419856"/>
            <a:ext cx="2432304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1E2F"/>
                </a:solidFill>
                <a:latin typeface="Arial"/>
              </a:rPr>
              <a:t>Дообучение на откликах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46336" y="3767328"/>
            <a:ext cx="2432304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Витрина откликов, дообучение,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стоп-листы, итоги пилота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6336" y="4206240"/>
            <a:ext cx="2432304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299 ч · </a:t>
            </a:r>
            <a:r>
              <a:rPr sz="1150" b="1">
                <a:solidFill>
                  <a:srgbClr val="B9BFCA"/>
                </a:solidFill>
                <a:latin typeface="Arial"/>
              </a:rPr>
              <a:t>План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4754880"/>
            <a:ext cx="11100816" cy="1517904"/>
          </a:xfrm>
          <a:prstGeom prst="roundRect">
            <a:avLst>
              <a:gd name="adj" fmla="val 4500"/>
            </a:avLst>
          </a:prstGeom>
          <a:solidFill>
            <a:srgbClr val="FDF8F2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4828032"/>
            <a:ext cx="3840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ДОП. ТОВАРООБОРОТ, млн ₽/мес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0600" y="4882896"/>
            <a:ext cx="201168" cy="12801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56632" y="4809744"/>
            <a:ext cx="6858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ДЦО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33288" y="4882896"/>
            <a:ext cx="201168" cy="12801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89320" y="4809744"/>
            <a:ext cx="6858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CVM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5856836"/>
            <a:ext cx="731520" cy="105051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77240" y="5807975"/>
            <a:ext cx="731520" cy="48861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9224" y="5597663"/>
            <a:ext cx="987552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E7203"/>
                </a:solidFill>
                <a:latin typeface="Arial"/>
              </a:rPr>
              <a:t>43</a:t>
            </a:r>
            <a:r>
              <a:rPr sz="1050" b="0">
                <a:solidFill>
                  <a:srgbClr val="5B616E"/>
                </a:solidFill>
                <a:latin typeface="Arial"/>
              </a:rPr>
              <a:t> + </a:t>
            </a:r>
            <a:r>
              <a:rPr sz="1050" b="1">
                <a:solidFill>
                  <a:srgbClr val="6C4AB6"/>
                </a:solidFill>
                <a:latin typeface="Arial"/>
              </a:rPr>
              <a:t>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224" y="5396495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63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сент.26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09928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709928" y="5707810"/>
            <a:ext cx="731520" cy="12215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581912" y="5497498"/>
            <a:ext cx="987552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E7203"/>
                </a:solidFill>
                <a:latin typeface="Arial"/>
              </a:rPr>
              <a:t>54</a:t>
            </a:r>
            <a:r>
              <a:rPr sz="1050" b="0">
                <a:solidFill>
                  <a:srgbClr val="5B616E"/>
                </a:solidFill>
                <a:latin typeface="Arial"/>
              </a:rPr>
              <a:t> + </a:t>
            </a:r>
            <a:r>
              <a:rPr sz="1050" b="1">
                <a:solidFill>
                  <a:srgbClr val="6C4AB6"/>
                </a:solidFill>
                <a:latin typeface="Arial"/>
              </a:rPr>
              <a:t>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81912" y="529633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104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81912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окт.26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42616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642616" y="5321807"/>
            <a:ext cx="731520" cy="508155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642616" y="5829963"/>
            <a:ext cx="731520" cy="1319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42616" y="5321807"/>
            <a:ext cx="731520" cy="50815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208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14600" y="5093207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262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14600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ноя.26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75304" y="5878824"/>
            <a:ext cx="731520" cy="83063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575304" y="5370669"/>
            <a:ext cx="731520" cy="508155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575304" y="5878824"/>
            <a:ext cx="731520" cy="8306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75304" y="5370669"/>
            <a:ext cx="731520" cy="50815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47288" y="5142069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242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47288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дек.26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07992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507992" y="5585657"/>
            <a:ext cx="731520" cy="244305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07992" y="5829963"/>
            <a:ext cx="731520" cy="1319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07992" y="5585657"/>
            <a:ext cx="731520" cy="24430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79976" y="5357057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154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79976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янв.27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40679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440679" y="5463505"/>
            <a:ext cx="731520" cy="36645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440679" y="5829963"/>
            <a:ext cx="731520" cy="1319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40679" y="5463505"/>
            <a:ext cx="731520" cy="36645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150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12664" y="5234905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204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12664" y="5989320"/>
            <a:ext cx="987552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фев.27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37960" y="4901184"/>
            <a:ext cx="507492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ДЦО за период — 243 млн ₽,  CVM — 1 110 млн 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Совокупно за 6 месяцев ~1,35 млрд 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E7203"/>
                </a:solidFill>
                <a:latin typeface="Arial"/>
              </a:rPr>
              <a:t>Сентябрь по ДЦО пересчитан: 43 млн ₽ вместо 27 млн ₽ в плане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C4AB6"/>
                </a:solidFill>
                <a:latin typeface="Arial"/>
              </a:rPr>
              <a:t>По пожеланиям клиента оптимизировали и ускорились по CVM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C4AB6"/>
                </a:solidFill>
                <a:latin typeface="Arial"/>
              </a:rPr>
              <a:t>CVM: +20 млн ₽ в сентябре, +50 млн ₽ в октябре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СТАТУС · 16 СЕНТЯБРЯ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Сделано к 16 сентября — подготовка пилота: оптимизирована работа со списками, выделены основные сегменты для пилотного запуска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16.09.2026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3602736" cy="4937760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16736"/>
            <a:ext cx="3602736" cy="38404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316736"/>
            <a:ext cx="332841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15668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1819656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Подготовка пилота: списки оптимизированы (2.8)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00300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304288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Подготовка пилота: выделены основные сегменты для запуска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84932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2788920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Сервис развёрнут: доступы, безопасность, бэкапы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69564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3273552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Подключены данные ДЦО: клиенты, покупки, текущие акции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54196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758184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Встроен модуль сегментации MCI + интерфейс выбора сегментов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38828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4242816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Настроены автоматические контрольные группы на базе MCI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23460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4727448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Описана методология «сегмент → оффер»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08092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5212080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ДЦО-акции переведены в персональный формат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1316736"/>
            <a:ext cx="3602736" cy="4937760"/>
          </a:xfrm>
          <a:prstGeom prst="roundRect">
            <a:avLst>
              <a:gd name="adj" fmla="val 4500"/>
            </a:avLst>
          </a:prstGeom>
          <a:solidFill>
            <a:srgbClr val="FDF1E4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52544" y="1316736"/>
            <a:ext cx="3602736" cy="3840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17136" y="1316736"/>
            <a:ext cx="332841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5424" y="1915668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1819656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Акции ДЦО высланы на согласование в КД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5424" y="2400300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0" y="2304288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Движок персонализации текстов ДЦО под сегмент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2884932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0" y="2788920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Агенты в обучении: копирайтер, редактор-гуманизатор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5424" y="3369564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0" y="3273552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Пилот: готовятся первые коммуникации по сегментам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35424" y="3854196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0" y="3758184"/>
            <a:ext cx="3236976" cy="46237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dirty="0" err="1">
                <a:solidFill>
                  <a:srgbClr val="1E1E2F"/>
                </a:solidFill>
                <a:latin typeface="Arial"/>
              </a:rPr>
              <a:t>По</a:t>
            </a:r>
            <a:r>
              <a:rPr sz="14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1E2F"/>
                </a:solidFill>
                <a:latin typeface="Arial"/>
              </a:rPr>
              <a:t>пожеланиям</a:t>
            </a:r>
            <a:r>
              <a:rPr sz="14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1E2F"/>
                </a:solidFill>
                <a:latin typeface="Arial"/>
              </a:rPr>
              <a:t>клиента</a:t>
            </a:r>
            <a:r>
              <a:rPr sz="14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1E2F"/>
                </a:solidFill>
                <a:latin typeface="Arial"/>
              </a:rPr>
              <a:t>ускорились</a:t>
            </a:r>
            <a:r>
              <a:rPr sz="14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1E2F"/>
                </a:solidFill>
                <a:latin typeface="Arial"/>
              </a:rPr>
              <a:t>по</a:t>
            </a:r>
            <a:r>
              <a:rPr sz="1400" b="0" dirty="0">
                <a:solidFill>
                  <a:srgbClr val="1E1E2F"/>
                </a:solidFill>
                <a:latin typeface="Arial"/>
              </a:rPr>
              <a:t> CVM: </a:t>
            </a:r>
            <a:r>
              <a:rPr sz="1400" b="0" dirty="0" err="1">
                <a:solidFill>
                  <a:srgbClr val="1E1E2F"/>
                </a:solidFill>
                <a:latin typeface="Arial"/>
              </a:rPr>
              <a:t>работы</a:t>
            </a:r>
            <a:r>
              <a:rPr sz="1400" b="0" dirty="0">
                <a:solidFill>
                  <a:srgbClr val="1E1E2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E1E2F"/>
                </a:solidFill>
                <a:latin typeface="Arial"/>
              </a:rPr>
              <a:t>начаты</a:t>
            </a:r>
            <a:endParaRPr sz="1400" b="0" dirty="0">
              <a:solidFill>
                <a:srgbClr val="1E1E2F"/>
              </a:solidFill>
              <a:latin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35424" y="4338828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0" y="4242816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База знаний: шаблоны, скиллы, гайдлайны, tone of voice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35424" y="4823460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54880" y="4727448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Бизнес-процесс планирования и заведения ДЦО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35424" y="5308092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0" y="5212080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Отдельные среды под агентов, шифрование данных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35424" y="5792724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54880" y="5696712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Пересчитан эффект сентября: +43 млн ₽ по ДЦО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56448" y="1316736"/>
            <a:ext cx="3602736" cy="493776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56448" y="1316736"/>
            <a:ext cx="3602736" cy="38404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21040" y="1316736"/>
            <a:ext cx="332841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СЛЕДУЮЩИЕ ШАГИ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39327" y="1915668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58784" y="1819656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Пилот 20–30 сентября: запуск и замер vs контрольные группы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9327" y="2400300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58784" y="2304288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Постэффекты пилота: отклик, доп. ТО, маржа по сегментам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39327" y="2884932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58784" y="2788920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Приёмка этапа 1, старт этапа 2 — 100 сегментов с ноября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9327" y="3369564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58784" y="3273552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Конвейер контента и интерфейс заведения акций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39327" y="3854196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58784" y="3758184"/>
            <a:ext cx="3035808" cy="4846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Агенты: конструктор акций, оператор заведения, дизайнер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РОАДМЭП · ЭТАП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Персонализация ДЦО: данные, сегментация и контент готовы; идёт подготовка пилота, запуск — 20–30 сентября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16.09.2026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59" y="1554480"/>
            <a:ext cx="75323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559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авг.26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6797" y="1554480"/>
            <a:ext cx="75323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6797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сент.26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0033" y="1554480"/>
            <a:ext cx="75323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0033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окт.26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3271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3271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ноя.26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508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36508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дек.26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89745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89745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янв.27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2982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2982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фев.27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96219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96219" y="1554480"/>
            <a:ext cx="75323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мар.27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865376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2148840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2432304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2715768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999232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282696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3566160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3849624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4133087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4416552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4700016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983480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5266944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23559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76797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130033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83271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636508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389745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142982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896219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649456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753415" y="1554480"/>
            <a:ext cx="20116" cy="39959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95047" y="1298448"/>
            <a:ext cx="1316736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E7203"/>
                </a:solidFill>
                <a:latin typeface="Arial"/>
              </a:rPr>
              <a:t>16.09 · 38 неделя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3847" y="5614416"/>
            <a:ext cx="251079" cy="137160"/>
          </a:xfrm>
          <a:prstGeom prst="roundRect">
            <a:avLst>
              <a:gd name="adj" fmla="val 4500"/>
            </a:avLst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96366" y="5568696"/>
            <a:ext cx="365760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4AB6"/>
                </a:solidFill>
                <a:latin typeface="Arial"/>
              </a:rPr>
              <a:t>Пилот — 20–30 сентября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1865376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Развёртывание сервиса: доступы, безопасность, бэкапы</a:t>
            </a:r>
            <a:r>
              <a:rPr sz="1000" b="0">
                <a:solidFill>
                  <a:srgbClr val="5B616E"/>
                </a:solidFill>
                <a:latin typeface="Arial"/>
              </a:rPr>
              <a:t>  1.1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79" y="1927738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69279" y="1927738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2148840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Интеграция источников данных ДЦО</a:t>
            </a:r>
            <a:r>
              <a:rPr sz="1000" b="0">
                <a:solidFill>
                  <a:srgbClr val="5B616E"/>
                </a:solidFill>
                <a:latin typeface="Arial"/>
              </a:rPr>
              <a:t>  1.2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79" y="2211202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79" y="2211202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2432304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Модуль сегментации MCI + интерфейс сегментов</a:t>
            </a:r>
            <a:r>
              <a:rPr sz="1000" b="0">
                <a:solidFill>
                  <a:srgbClr val="5B616E"/>
                </a:solidFill>
                <a:latin typeface="Arial"/>
              </a:rPr>
              <a:t>  1.3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79" y="2494666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669279" y="2494666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2715768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Автоматические контрольные группы на базе MCI</a:t>
            </a:r>
            <a:r>
              <a:rPr sz="1000" b="0">
                <a:solidFill>
                  <a:srgbClr val="5B616E"/>
                </a:solidFill>
                <a:latin typeface="Arial"/>
              </a:rPr>
              <a:t>  1.4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79" y="2778130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669279" y="2778130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2999232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Движок персонализации текстов ДЦО</a:t>
            </a:r>
            <a:r>
              <a:rPr sz="1000" b="0">
                <a:solidFill>
                  <a:srgbClr val="5B616E"/>
                </a:solidFill>
                <a:latin typeface="Arial"/>
              </a:rPr>
              <a:t>  1.5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79" y="3061594"/>
            <a:ext cx="2168271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69279" y="3061594"/>
            <a:ext cx="2168271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3282696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Методология персонализации: сегмент → оффер</a:t>
            </a:r>
            <a:r>
              <a:rPr sz="1000" b="0">
                <a:solidFill>
                  <a:srgbClr val="5B616E"/>
                </a:solidFill>
                <a:latin typeface="Arial"/>
              </a:rPr>
              <a:t>  1.6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79" y="3345058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69279" y="3345058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3566160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Перевод ДЦО-акций в персональный формат</a:t>
            </a:r>
            <a:r>
              <a:rPr sz="1000" b="0">
                <a:solidFill>
                  <a:srgbClr val="5B616E"/>
                </a:solidFill>
                <a:latin typeface="Arial"/>
              </a:rPr>
              <a:t>  1.7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79" y="3628522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669279" y="3628522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3849624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База знаний: шаблоны, скиллы, tone of voice</a:t>
            </a:r>
            <a:r>
              <a:rPr sz="1000" b="0">
                <a:solidFill>
                  <a:srgbClr val="5B616E"/>
                </a:solidFill>
                <a:latin typeface="Arial"/>
              </a:rPr>
              <a:t>  1.8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22517" y="3911986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22517" y="3911986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133087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Бизнес-процесс планирования и заведения ДЦО</a:t>
            </a:r>
            <a:r>
              <a:rPr sz="1000" b="0">
                <a:solidFill>
                  <a:srgbClr val="5B616E"/>
                </a:solidFill>
                <a:latin typeface="Arial"/>
              </a:rPr>
              <a:t>  1.9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22517" y="4195450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22517" y="4195450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4416552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Пилот + постэффекты vs контрольная группа</a:t>
            </a:r>
            <a:r>
              <a:rPr sz="1000" b="0">
                <a:solidFill>
                  <a:srgbClr val="5B616E"/>
                </a:solidFill>
                <a:latin typeface="Arial"/>
              </a:rPr>
              <a:t>  1.10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22517" y="4478914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22517" y="4478914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4700016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Серверы под агентов: изолированные среды</a:t>
            </a:r>
            <a:r>
              <a:rPr sz="1000" b="0">
                <a:solidFill>
                  <a:srgbClr val="5B616E"/>
                </a:solidFill>
                <a:latin typeface="Arial"/>
              </a:rPr>
              <a:t>  1.12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22517" y="4762378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22517" y="4762378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4983480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Безопасность: шифрование данных для агентов</a:t>
            </a:r>
            <a:r>
              <a:rPr sz="1000" b="0">
                <a:solidFill>
                  <a:srgbClr val="5B616E"/>
                </a:solidFill>
                <a:latin typeface="Arial"/>
              </a:rPr>
              <a:t>  1.13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22517" y="5045842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22517" y="5045842"/>
            <a:ext cx="1415034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266944"/>
            <a:ext cx="4928616" cy="2834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Управление этапом: статусы, демо, приёмка</a:t>
            </a:r>
            <a:r>
              <a:rPr sz="1000" b="0">
                <a:solidFill>
                  <a:srgbClr val="5B616E"/>
                </a:solidFill>
                <a:latin typeface="Arial"/>
              </a:rPr>
              <a:t>  1.11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669279" y="5329306"/>
            <a:ext cx="2168271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669279" y="5329306"/>
            <a:ext cx="2168271" cy="15873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1554480"/>
            <a:ext cx="11100816" cy="3995928"/>
          </a:xfrm>
          <a:prstGeom prst="rect">
            <a:avLst/>
          </a:prstGeom>
          <a:noFill/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66928" y="1266444"/>
            <a:ext cx="237744" cy="1463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77824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Сделано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65376" y="1266444"/>
            <a:ext cx="237744" cy="14630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176272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В работе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163824" y="1266444"/>
            <a:ext cx="237744" cy="146304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474720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План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20640" y="1188720"/>
            <a:ext cx="6583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16E"/>
                </a:solidFill>
                <a:latin typeface="Arial"/>
              </a:rPr>
              <a:t>Этап 1 · 13 задач: 6 закрыто, 7 в работе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5870448"/>
            <a:ext cx="11155680" cy="5120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16E"/>
                </a:solidFill>
                <a:latin typeface="Arial"/>
              </a:rPr>
              <a:t>Подготовка пилота: списки оптимизированы (задача 2.8), выделены основные сегменты, готовятся первые коммуникации по сегментам.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16E"/>
                </a:solidFill>
                <a:latin typeface="Arial"/>
              </a:rPr>
              <a:t>Акции ДЦО по задаче 1.7 переданы на согласование в коммерческую дирекцию; пилот 1.10 стартует после согласования.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РОАДМЭП · ЭТАПЫ 2–4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С ноября — масштаб до 100 сегментов, затем 200 акций в месяц и дообучение агентов на откликах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16.09.2026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59" y="1554480"/>
            <a:ext cx="69608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59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авг.26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776847" y="1554480"/>
            <a:ext cx="69608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6847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сент.26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2933" y="1554480"/>
            <a:ext cx="69608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2933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окт.26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9021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9021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ноя.26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5108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5108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дек.26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61195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61195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янв.27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57282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57282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фев.27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53369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53369" y="1554480"/>
            <a:ext cx="69608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мар.27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86537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213969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241401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268833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96265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23697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351129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378561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4059935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433425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460857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88289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515721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43153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8640" y="570585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598017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80759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776847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72933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69021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865108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561195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257282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953369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649456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124890" y="1554480"/>
            <a:ext cx="20116" cy="470001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66522" y="1298448"/>
            <a:ext cx="1316736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E7203"/>
                </a:solidFill>
                <a:latin typeface="Arial"/>
              </a:rPr>
              <a:t>16.09 · 38 неделя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1865376"/>
            <a:ext cx="11100816" cy="274320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1865376"/>
            <a:ext cx="1091793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ЭТАП 2 · ноябрь 2026 — январь 2027 · Полноценный CVM: 100 сегментов · 1 202 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213969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100 сегментов MCI в проекте: конфиг, обновление, выгрузки</a:t>
            </a:r>
            <a:r>
              <a:rPr sz="950" b="0">
                <a:solidFill>
                  <a:srgbClr val="5B616E"/>
                </a:solidFill>
                <a:latin typeface="Arial"/>
              </a:rPr>
              <a:t>  2.1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14741" y="220004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14741" y="220004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241401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Конвейер генерации контента + контент под 100 сегментов</a:t>
            </a:r>
            <a:r>
              <a:rPr sz="950" b="0">
                <a:solidFill>
                  <a:srgbClr val="5B616E"/>
                </a:solidFill>
                <a:latin typeface="Arial"/>
              </a:rPr>
              <a:t>  2.2 · 2.7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14741" y="247436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14741" y="247436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268833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Операционный интерфейс заведения акций</a:t>
            </a:r>
            <a:r>
              <a:rPr sz="950" b="0">
                <a:solidFill>
                  <a:srgbClr val="5B616E"/>
                </a:solidFill>
                <a:latin typeface="Arial"/>
              </a:rPr>
              <a:t>  2.3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14741" y="274868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14741" y="274868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296265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Деплинки, SKU и механики в конвейере</a:t>
            </a:r>
            <a:r>
              <a:rPr sz="950" b="0">
                <a:solidFill>
                  <a:srgbClr val="5B616E"/>
                </a:solidFill>
                <a:latin typeface="Arial"/>
              </a:rPr>
              <a:t>  2.4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14741" y="302300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14741" y="302300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323697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Агенты: конструктор, оператор, дизайнер, оптимизатор</a:t>
            </a:r>
            <a:r>
              <a:rPr sz="950" b="0">
                <a:solidFill>
                  <a:srgbClr val="5B616E"/>
                </a:solidFill>
                <a:latin typeface="Arial"/>
              </a:rPr>
              <a:t>  2.5 · 2.13 · 2.15–2.16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14741" y="329732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14741" y="329732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351129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Дашборд эффективности и постэффекты сегментных акций</a:t>
            </a:r>
            <a:r>
              <a:rPr sz="950" b="0">
                <a:solidFill>
                  <a:srgbClr val="5B616E"/>
                </a:solidFill>
                <a:latin typeface="Arial"/>
              </a:rPr>
              <a:t>  2.6 · 2.14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14741" y="357164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14741" y="357164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378561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Операционная часть заведения акций: настройка, расписание, QA</a:t>
            </a:r>
            <a:r>
              <a:rPr sz="950" b="0">
                <a:solidFill>
                  <a:srgbClr val="5B616E"/>
                </a:solidFill>
                <a:latin typeface="Arial"/>
              </a:rPr>
              <a:t>  2.8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22567" y="384596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822567" y="384596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14741" y="384596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214741" y="384596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4059935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Методология 100 сегментов, процесс, обучение команды заказчика</a:t>
            </a:r>
            <a:r>
              <a:rPr sz="950" b="0">
                <a:solidFill>
                  <a:srgbClr val="5B616E"/>
                </a:solidFill>
                <a:latin typeface="Arial"/>
              </a:rPr>
              <a:t>  2.9–2.12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14741" y="412028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14741" y="4120286"/>
            <a:ext cx="1996821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4334256"/>
            <a:ext cx="11100816" cy="274320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0080" y="4334256"/>
            <a:ext cx="1091793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ЭТАП 3 · февраль 2027 · Масштаб + простая оптимизация · 310 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460857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200 акций через конвейер + автоподбор оффера и сегмента</a:t>
            </a:r>
            <a:r>
              <a:rPr sz="950" b="0">
                <a:solidFill>
                  <a:srgbClr val="5B616E"/>
                </a:solidFill>
                <a:latin typeface="Arial"/>
              </a:rPr>
              <a:t>  3.2 · 3.3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303002" y="466892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303002" y="466892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488289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Стабилизация интерфейса, отчёт по эффекту, передача сервиса</a:t>
            </a:r>
            <a:r>
              <a:rPr sz="950" b="0">
                <a:solidFill>
                  <a:srgbClr val="5B616E"/>
                </a:solidFill>
                <a:latin typeface="Arial"/>
              </a:rPr>
              <a:t>  3.1 · 3.4–3.6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303002" y="494324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303002" y="494324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5157216"/>
            <a:ext cx="11100816" cy="274320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0080" y="5157216"/>
            <a:ext cx="1091793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ЭТАП 4 · март 2027 · Дообучение на откликах и ограничения товаров · 299 ч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543153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Витрина откликов клиентов, дообучение и калибровка агентов</a:t>
            </a:r>
            <a:r>
              <a:rPr sz="950" b="0">
                <a:solidFill>
                  <a:srgbClr val="5B616E"/>
                </a:solidFill>
                <a:latin typeface="Arial"/>
              </a:rPr>
              <a:t>  4.1–4.4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999089" y="549188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999089" y="549188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570585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Стоп-листы товаров и ограничения в конструкторе акций</a:t>
            </a:r>
            <a:r>
              <a:rPr sz="950" b="0">
                <a:solidFill>
                  <a:srgbClr val="5B616E"/>
                </a:solidFill>
                <a:latin typeface="Arial"/>
              </a:rPr>
              <a:t>  4.5 · 4.6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999089" y="576620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999089" y="576620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" y="5980176"/>
            <a:ext cx="538581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Коррекция методологии по итогам пилота, итоговая аналитика</a:t>
            </a:r>
            <a:r>
              <a:rPr sz="950" b="0">
                <a:solidFill>
                  <a:srgbClr val="5B616E"/>
                </a:solidFill>
                <a:latin typeface="Arial"/>
              </a:rPr>
              <a:t>  4.7–4.10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999089" y="604052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999089" y="6040526"/>
            <a:ext cx="604647" cy="15361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1554480"/>
            <a:ext cx="11100816" cy="4700016"/>
          </a:xfrm>
          <a:prstGeom prst="rect">
            <a:avLst/>
          </a:prstGeom>
          <a:noFill/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566928" y="1266444"/>
            <a:ext cx="237744" cy="1463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77824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Сделано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65376" y="1266444"/>
            <a:ext cx="237744" cy="14630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176272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В работе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63824" y="1266444"/>
            <a:ext cx="237744" cy="146304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474720" y="1225296"/>
            <a:ext cx="10515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План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1008</Words>
  <Application>Microsoft Macintosh PowerPoint</Application>
  <PresentationFormat>Широкоэкранный</PresentationFormat>
  <Paragraphs>191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lena_koryakova@mail.ru</cp:lastModifiedBy>
  <cp:revision>2</cp:revision>
  <dcterms:created xsi:type="dcterms:W3CDTF">2013-01-27T09:14:16Z</dcterms:created>
  <dcterms:modified xsi:type="dcterms:W3CDTF">2026-09-16T18:19:17Z</dcterms:modified>
  <cp:category/>
</cp:coreProperties>
</file>