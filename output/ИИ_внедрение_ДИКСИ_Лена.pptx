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25"/>
  </p:normalViewPr>
  <p:slideViewPr>
    <p:cSldViewPr snapToGrid="0" snapToObjects="1">
      <p:cViewPr varScale="1">
        <p:scale>
          <a:sx n="110" d="100"/>
          <a:sy n="110" d="100"/>
        </p:scale>
        <p:origin x="5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18872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7203"/>
                </a:solidFill>
                <a:latin typeface="Arial"/>
              </a:rPr>
              <a:t>ЗАПУСК АКЦИЙ · ЗАКРЫТЫЙ КОНТУР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ИИ-конвейер запуска акций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от идеи акции до постанализа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C9CDD6"/>
                </a:solidFill>
                <a:latin typeface="Arial"/>
              </a:rPr>
              <a:t>внутри периметра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607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9CDD6"/>
                </a:solidFill>
                <a:latin typeface="Arial"/>
              </a:rPr>
              <a:t>Бизнес-кейс · Архитектура · Жизненный цикл · Агенты · Обучение · Модерация · План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B616E"/>
                </a:solidFill>
                <a:latin typeface="Arial"/>
              </a:rPr>
              <a:t>Сегментные акции: +20 ₽/клиента vs +3 ₽  →  потенциал до +1,5 млрд ₽/год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1 · БИЗНЕС-КЕЙС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Сегментные акции дают +20 ₽/клиента против +3 ₽ — потенциал до +1,5 млрд ₽/год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Широкая рассылка vs сегментные акции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788920" cy="475488"/>
          </a:xfrm>
          <a:prstGeom prst="rect">
            <a:avLst/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691640"/>
            <a:ext cx="1280160" cy="475488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17720" y="1691640"/>
            <a:ext cx="1417320" cy="47548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691640"/>
            <a:ext cx="2679191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128016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Широкая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91640"/>
            <a:ext cx="141732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Сегментная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67128"/>
            <a:ext cx="548639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167128"/>
            <a:ext cx="2679191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1E2F"/>
                </a:solidFill>
                <a:latin typeface="Arial"/>
              </a:rPr>
              <a:t>Доп. ТО на клиента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67128"/>
            <a:ext cx="128016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B616E"/>
                </a:solidFill>
                <a:latin typeface="Arial"/>
              </a:rPr>
              <a:t>+3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167128"/>
            <a:ext cx="141732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E7203"/>
                </a:solidFill>
                <a:latin typeface="Arial"/>
              </a:rPr>
              <a:t>+20 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42616"/>
            <a:ext cx="5486399" cy="475488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642616"/>
            <a:ext cx="2679191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1E2F"/>
                </a:solidFill>
                <a:latin typeface="Arial"/>
              </a:rPr>
              <a:t>Доля акций «в плюсе»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642616"/>
            <a:ext cx="128016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B616E"/>
                </a:solidFill>
                <a:latin typeface="Arial"/>
              </a:rPr>
              <a:t>58%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642616"/>
            <a:ext cx="141732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E7203"/>
                </a:solidFill>
                <a:latin typeface="Arial"/>
              </a:rPr>
              <a:t>68%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18104"/>
            <a:ext cx="548639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3118104"/>
            <a:ext cx="2679191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1E2F"/>
                </a:solidFill>
                <a:latin typeface="Arial"/>
              </a:rPr>
              <a:t>Переход по ссылке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118104"/>
            <a:ext cx="128016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B616E"/>
                </a:solidFill>
                <a:latin typeface="Arial"/>
              </a:rPr>
              <a:t>~4%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118104"/>
            <a:ext cx="141732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E7203"/>
                </a:solidFill>
                <a:latin typeface="Arial"/>
              </a:rPr>
              <a:t>8–12%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325880"/>
            <a:ext cx="537667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Переход растёт с точностью сегмента,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1267" y="2804160"/>
            <a:ext cx="640080" cy="396240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2511552"/>
            <a:ext cx="107533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5B616E"/>
                </a:solidFill>
                <a:latin typeface="Arial"/>
              </a:rPr>
              <a:t>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236976"/>
            <a:ext cx="107533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Широкий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56601" y="2506980"/>
            <a:ext cx="640080" cy="69342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38974" y="2214372"/>
            <a:ext cx="107533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7203"/>
                </a:solidFill>
                <a:latin typeface="Arial"/>
              </a:rPr>
              <a:t>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8974" y="3236976"/>
            <a:ext cx="107533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Мамы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31936" y="2407920"/>
            <a:ext cx="640080" cy="79248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4308" y="2115312"/>
            <a:ext cx="107533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7203"/>
                </a:solidFill>
                <a:latin typeface="Arial"/>
              </a:rPr>
              <a:t>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4308" y="3236976"/>
            <a:ext cx="107533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Готовая
еда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07270" y="2308860"/>
            <a:ext cx="640080" cy="89154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89643" y="2016252"/>
            <a:ext cx="107533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7203"/>
                </a:solidFill>
                <a:latin typeface="Arial"/>
              </a:rPr>
              <a:t>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9643" y="3236976"/>
            <a:ext cx="107533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Быт.
химия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82604" y="2011680"/>
            <a:ext cx="640080" cy="11887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64977" y="1719072"/>
            <a:ext cx="107533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9E5B"/>
                </a:solidFill>
                <a:latin typeface="Arial"/>
              </a:rPr>
              <a:t>12%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4977" y="3236976"/>
            <a:ext cx="107533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Зоо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950208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Потенциал на активной push-базе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315968"/>
            <a:ext cx="3401568" cy="1024128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9050">
            <a:solidFill>
              <a:srgbClr val="1E1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" y="4425696"/>
            <a:ext cx="307238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E1E2F"/>
                </a:solidFill>
                <a:latin typeface="Arial"/>
              </a:rPr>
              <a:t>2,6 млн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4846320"/>
            <a:ext cx="307238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активных клиентов
доступны по push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986784" y="4663440"/>
            <a:ext cx="384048" cy="329184"/>
          </a:xfrm>
          <a:prstGeom prst="rightArrow">
            <a:avLst/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407408" y="4315968"/>
            <a:ext cx="3401568" cy="1024128"/>
          </a:xfrm>
          <a:prstGeom prst="roundRect">
            <a:avLst>
              <a:gd name="adj" fmla="val 4500"/>
            </a:avLst>
          </a:prstGeom>
          <a:solidFill>
            <a:srgbClr val="FDF8F2"/>
          </a:solidFill>
          <a:ln w="19050">
            <a:solidFill>
              <a:srgbClr val="EE72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0" y="4425696"/>
            <a:ext cx="307238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E7203"/>
                </a:solidFill>
                <a:latin typeface="Arial"/>
              </a:rPr>
              <a:t>+600 млн ₽/год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846320"/>
            <a:ext cx="307238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категорийная сегментация
всей базы: +20 ₽/клиента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845552" y="4663440"/>
            <a:ext cx="384048" cy="329184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266175" y="4315968"/>
            <a:ext cx="3401568" cy="1024128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0767" y="4425696"/>
            <a:ext cx="307238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E9E5B"/>
                </a:solidFill>
                <a:latin typeface="Arial"/>
              </a:rPr>
              <a:t>до +1,5 млрд ₽/год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7" y="4846320"/>
            <a:ext cx="3072384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глубокое деление аудиторий,
до +50 ₽/клиента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468112"/>
            <a:ext cx="11091672" cy="420624"/>
          </a:xfrm>
          <a:prstGeom prst="roundRect">
            <a:avLst>
              <a:gd name="adj" fmla="val 45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7240" y="5468112"/>
            <a:ext cx="1069848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E7203"/>
                </a:solidFill>
                <a:latin typeface="Arial"/>
              </a:rPr>
              <a:t>ЧТОБЫ ПОКРЫТЬ ВСЕ ПОДСЕГМЕНТЫ:  </a:t>
            </a:r>
            <a:r>
              <a:rPr sz="1150" b="0">
                <a:solidFill>
                  <a:srgbClr val="FFFFFF"/>
                </a:solidFill>
                <a:latin typeface="Arial"/>
              </a:rPr>
              <a:t>~20-25 → ~200 акций/мес (×8-10)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16E"/>
                </a:solidFill>
                <a:latin typeface="Arial"/>
              </a:rPr>
              <a:t>Источник: слайд «Эффективность сегментных акций», CVM, окт.2025–май.2026; сегмент «Активные», медианы, эффект vs контрольная группа.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2 · ВЕРХНЕУРОВНЕВАЯ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Решение строится снизу вверх: инфраструктура → база знаний → агенты → модератор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8549640" cy="365760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85496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↑  ВЫПУСК: действие в Manzana и каналах (push · slip)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0512"/>
            <a:ext cx="8549640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00584" cy="96926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86384" y="2039111"/>
            <a:ext cx="512064" cy="51206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020824"/>
            <a:ext cx="512064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901952"/>
            <a:ext cx="274320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62828"/>
                </a:solidFill>
                <a:latin typeface="Arial"/>
              </a:rPr>
              <a:t>Модератор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проверяет каждого агента до действия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83664"/>
            <a:ext cx="46177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безопасность · экономика акции · голос бренда · комплаенс (ФЗ-38/152) · анти-дубли · ревью человеком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07792"/>
            <a:ext cx="8549640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907792"/>
            <a:ext cx="100584" cy="96926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6384" y="3136391"/>
            <a:ext cx="512064" cy="512064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3118104"/>
            <a:ext cx="512064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999232"/>
            <a:ext cx="274320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7203"/>
                </a:solidFill>
                <a:latin typeface="Arial"/>
              </a:rPr>
              <a:t>Агенты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команда на весь цикл акции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980944"/>
            <a:ext cx="46177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идея · прогноз · выбор предложения · механика · сегмент · план · заведение · тексты · оптимизация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05072"/>
            <a:ext cx="8549640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005072"/>
            <a:ext cx="100584" cy="96926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86384" y="4233672"/>
            <a:ext cx="512064" cy="512064"/>
          </a:xfrm>
          <a:prstGeom prst="ellipse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4215384"/>
            <a:ext cx="512064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96511"/>
            <a:ext cx="274320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4AB6"/>
                </a:solidFill>
                <a:latin typeface="Arial"/>
              </a:rPr>
              <a:t>База знаний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на ней обучаются агенты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078224"/>
            <a:ext cx="46177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голос бренда: «ты», лексика, запреты · правила коммуникаций: длины и структура текстов · механики акций и расчёт выгоды для клиента · соответствие сегментов и категорий · удачные примеры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02352"/>
            <a:ext cx="8549640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00584" cy="969264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86384" y="5330952"/>
            <a:ext cx="512064" cy="512064"/>
          </a:xfrm>
          <a:prstGeom prst="ellipse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312664"/>
            <a:ext cx="512064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5351791"/>
            <a:ext cx="2743200" cy="47038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dirty="0" err="1">
                <a:solidFill>
                  <a:srgbClr val="5B616E"/>
                </a:solidFill>
                <a:latin typeface="Arial"/>
              </a:rPr>
              <a:t>Инфраструктура</a:t>
            </a:r>
            <a:endParaRPr sz="1500" b="1" dirty="0">
              <a:solidFill>
                <a:srgbClr val="5B616E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dirty="0" err="1">
                <a:solidFill>
                  <a:srgbClr val="5B616E"/>
                </a:solidFill>
                <a:latin typeface="Arial"/>
              </a:rPr>
              <a:t>фундамент</a:t>
            </a:r>
            <a:r>
              <a:rPr sz="1100" b="0" dirty="0">
                <a:solidFill>
                  <a:srgbClr val="5B616E"/>
                </a:solidFill>
                <a:latin typeface="Arial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175504"/>
            <a:ext cx="46177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dirty="0">
                <a:solidFill>
                  <a:srgbClr val="1E1E2F"/>
                </a:solidFill>
                <a:latin typeface="Arial"/>
              </a:rPr>
              <a:t>on-premise /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частный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контур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· LLM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внутри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периметра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·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вычисления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·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коннекторы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к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данным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· ИБ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и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маскирование</a:t>
            </a:r>
            <a:endParaRPr sz="1100" b="0" dirty="0">
              <a:solidFill>
                <a:srgbClr val="1E1E2F"/>
              </a:solidFill>
              <a:latin typeface="Arial"/>
            </a:endParaRPr>
          </a:p>
        </p:txBody>
      </p:sp>
      <p:sp>
        <p:nvSpPr>
          <p:cNvPr id="33" name="Up Arrow 32"/>
          <p:cNvSpPr/>
          <p:nvPr/>
        </p:nvSpPr>
        <p:spPr>
          <a:xfrm>
            <a:off x="4695444" y="5029200"/>
            <a:ext cx="256032" cy="128016"/>
          </a:xfrm>
          <a:prstGeom prst="up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Up Arrow 33"/>
          <p:cNvSpPr/>
          <p:nvPr/>
        </p:nvSpPr>
        <p:spPr>
          <a:xfrm>
            <a:off x="4695444" y="3931920"/>
            <a:ext cx="256032" cy="128016"/>
          </a:xfrm>
          <a:prstGeom prst="up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Up Arrow 34"/>
          <p:cNvSpPr/>
          <p:nvPr/>
        </p:nvSpPr>
        <p:spPr>
          <a:xfrm>
            <a:off x="4695444" y="2834640"/>
            <a:ext cx="256032" cy="128016"/>
          </a:xfrm>
          <a:prstGeom prst="up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281160" y="1371600"/>
            <a:ext cx="2359152" cy="4480560"/>
          </a:xfrm>
          <a:prstGeom prst="roundRect">
            <a:avLst>
              <a:gd name="adj" fmla="val 45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64040" y="1517904"/>
            <a:ext cx="2029968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E7203"/>
                </a:solidFill>
                <a:latin typeface="Arial"/>
              </a:rPr>
              <a:t>ИНТЕРФЕЙС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E7203"/>
                </a:solidFill>
                <a:latin typeface="Arial"/>
              </a:rPr>
              <a:t>УПРАВЛЕНИЯ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2286000"/>
            <a:ext cx="2029968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CDD6"/>
                </a:solidFill>
                <a:latin typeface="Arial"/>
              </a:rPr>
              <a:t>Показать и управлять агентами внутри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063240"/>
            <a:ext cx="2029968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FFFFFF"/>
                </a:solidFill>
                <a:latin typeface="Arial"/>
              </a:rPr>
              <a:t>•  Дашборд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всех</a:t>
            </a:r>
            <a:r>
              <a:rPr sz="125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агентов</a:t>
            </a:r>
            <a:endParaRPr sz="125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FFFFFF"/>
                </a:solidFill>
                <a:latin typeface="Arial"/>
              </a:rPr>
              <a:t>• 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Запуск</a:t>
            </a:r>
            <a:r>
              <a:rPr sz="1250" b="0" dirty="0">
                <a:solidFill>
                  <a:srgbClr val="FFFFFF"/>
                </a:solidFill>
                <a:latin typeface="Arial"/>
              </a:rPr>
              <a:t> /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пауза</a:t>
            </a:r>
            <a:r>
              <a:rPr sz="1250" b="0" dirty="0">
                <a:solidFill>
                  <a:srgbClr val="FFFFFF"/>
                </a:solidFill>
                <a:latin typeface="Arial"/>
              </a:rPr>
              <a:t> /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настройка</a:t>
            </a:r>
            <a:endParaRPr sz="125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FFFFFF"/>
                </a:solidFill>
                <a:latin typeface="Arial"/>
              </a:rPr>
              <a:t>• 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Просмотр</a:t>
            </a:r>
            <a:r>
              <a:rPr sz="125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результатов</a:t>
            </a:r>
            <a:endParaRPr sz="125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FFFFFF"/>
                </a:solidFill>
                <a:latin typeface="Arial"/>
              </a:rPr>
              <a:t>• 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Логи</a:t>
            </a:r>
            <a:r>
              <a:rPr sz="125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и</a:t>
            </a:r>
            <a:r>
              <a:rPr sz="125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аудит</a:t>
            </a:r>
            <a:r>
              <a:rPr sz="125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решений</a:t>
            </a:r>
            <a:endParaRPr sz="125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FFFFFF"/>
                </a:solidFill>
                <a:latin typeface="Arial"/>
              </a:rPr>
              <a:t>• 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Ручное</a:t>
            </a:r>
            <a:r>
              <a:rPr sz="125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Arial"/>
              </a:rPr>
              <a:t>вмешательство</a:t>
            </a:r>
            <a:endParaRPr sz="1250" b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3 ·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Промо-фабрика целиком внутри закрытого контура ДИКСИ, без выхода наружу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1475720" cy="4773168"/>
          </a:xfrm>
          <a:prstGeom prst="roundRect">
            <a:avLst>
              <a:gd name="adj" fmla="val 4500"/>
            </a:avLst>
          </a:prstGeom>
          <a:solidFill>
            <a:srgbClr val="FDF8F2"/>
          </a:solidFill>
          <a:ln w="22225">
            <a:solidFill>
              <a:srgbClr val="EE72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417320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E7203"/>
                </a:solidFill>
                <a:latin typeface="Arial"/>
              </a:rPr>
              <a:t>КОНТУР ДИКСИ — внешний egress запрещён · LLM внутри периметра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16352" y="3611880"/>
            <a:ext cx="182880" cy="420624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6327648" y="3611880"/>
            <a:ext cx="182880" cy="420624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9308592" y="3611880"/>
            <a:ext cx="182880" cy="420624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1865376"/>
            <a:ext cx="2286000" cy="384048"/>
          </a:xfrm>
          <a:prstGeom prst="roundRect">
            <a:avLst>
              <a:gd name="adj" fmla="val 4500"/>
            </a:avLst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865376"/>
            <a:ext cx="22860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ДАННЫЕ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44571"/>
            <a:ext cx="2286000" cy="5669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444571"/>
            <a:ext cx="64008" cy="566928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2472002"/>
            <a:ext cx="2084831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dirty="0">
                <a:solidFill>
                  <a:srgbClr val="1E1E2F"/>
                </a:solidFill>
                <a:latin typeface="Arial"/>
              </a:rPr>
              <a:t>DWH</a:t>
            </a:r>
            <a:r>
              <a:rPr sz="1050" b="0" dirty="0">
                <a:solidFill>
                  <a:srgbClr val="5B616E"/>
                </a:solidFill>
                <a:latin typeface="Arial"/>
              </a:rPr>
              <a:t>  — </a:t>
            </a:r>
            <a:r>
              <a:rPr sz="1050" b="0" dirty="0" err="1">
                <a:solidFill>
                  <a:srgbClr val="5B616E"/>
                </a:solidFill>
                <a:latin typeface="Arial"/>
              </a:rPr>
              <a:t>транзакции</a:t>
            </a:r>
            <a:r>
              <a:rPr sz="1050" b="0" dirty="0">
                <a:solidFill>
                  <a:srgbClr val="5B616E"/>
                </a:solidFill>
                <a:latin typeface="Arial"/>
              </a:rPr>
              <a:t>, </a:t>
            </a:r>
            <a:r>
              <a:rPr sz="1050" b="0" dirty="0" err="1">
                <a:solidFill>
                  <a:srgbClr val="5B616E"/>
                </a:solidFill>
                <a:latin typeface="Arial"/>
              </a:rPr>
              <a:t>чеки</a:t>
            </a:r>
            <a:endParaRPr sz="1050" b="0" dirty="0">
              <a:solidFill>
                <a:srgbClr val="5B616E"/>
              </a:solidFill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066363"/>
            <a:ext cx="2286000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066363"/>
            <a:ext cx="64008" cy="603504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3093795"/>
            <a:ext cx="2084831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dirty="0">
                <a:solidFill>
                  <a:srgbClr val="1E1E2F"/>
                </a:solidFill>
                <a:latin typeface="Arial"/>
              </a:rPr>
              <a:t>MCI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dirty="0" err="1">
                <a:solidFill>
                  <a:srgbClr val="5B616E"/>
                </a:solidFill>
                <a:latin typeface="Arial"/>
              </a:rPr>
              <a:t>сегментация</a:t>
            </a:r>
            <a:r>
              <a:rPr sz="1050" b="0" dirty="0">
                <a:solidFill>
                  <a:srgbClr val="5B616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5B616E"/>
                </a:solidFill>
                <a:latin typeface="Arial"/>
              </a:rPr>
              <a:t>клиентов</a:t>
            </a:r>
            <a:r>
              <a:rPr sz="1050" b="0" dirty="0">
                <a:solidFill>
                  <a:srgbClr val="5B616E"/>
                </a:solidFill>
                <a:latin typeface="Arial"/>
              </a:rPr>
              <a:t>, </a:t>
            </a:r>
            <a:r>
              <a:rPr sz="1050" b="0" dirty="0" err="1">
                <a:solidFill>
                  <a:srgbClr val="5B616E"/>
                </a:solidFill>
                <a:latin typeface="Arial"/>
              </a:rPr>
              <a:t>аналитика</a:t>
            </a:r>
            <a:endParaRPr sz="1050" b="0" dirty="0">
              <a:solidFill>
                <a:srgbClr val="5B616E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5216" y="3743019"/>
            <a:ext cx="22860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5B616E"/>
                </a:solidFill>
                <a:latin typeface="Arial"/>
              </a:rPr>
              <a:t>ДЛЯ </a:t>
            </a:r>
            <a:r>
              <a:rPr lang="ru-RU" sz="1000" b="1" dirty="0">
                <a:solidFill>
                  <a:srgbClr val="5B616E"/>
                </a:solidFill>
                <a:latin typeface="Arial"/>
              </a:rPr>
              <a:t> </a:t>
            </a:r>
            <a:r>
              <a:rPr sz="1000" b="1" dirty="0">
                <a:solidFill>
                  <a:srgbClr val="5B616E"/>
                </a:solidFill>
                <a:latin typeface="Arial"/>
              </a:rPr>
              <a:t>КОНТЕНТА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80763"/>
            <a:ext cx="2286000" cy="512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980763"/>
            <a:ext cx="64008" cy="512064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" y="3946459"/>
            <a:ext cx="2084831" cy="5806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dirty="0">
                <a:solidFill>
                  <a:srgbClr val="1E1E2F"/>
                </a:solidFill>
                <a:latin typeface="Arial"/>
              </a:rPr>
              <a:t>Голос </a:t>
            </a:r>
            <a:r>
              <a:rPr sz="1150" b="0" dirty="0" err="1">
                <a:solidFill>
                  <a:srgbClr val="1E1E2F"/>
                </a:solidFill>
                <a:latin typeface="Arial"/>
              </a:rPr>
              <a:t>бренда</a:t>
            </a:r>
            <a:r>
              <a:rPr sz="115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E1E2F"/>
                </a:solidFill>
                <a:latin typeface="Arial"/>
              </a:rPr>
              <a:t>и</a:t>
            </a:r>
            <a:r>
              <a:rPr sz="115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E1E2F"/>
                </a:solidFill>
                <a:latin typeface="Arial"/>
              </a:rPr>
              <a:t>правила</a:t>
            </a:r>
            <a:r>
              <a:rPr sz="115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E1E2F"/>
                </a:solidFill>
                <a:latin typeface="Arial"/>
              </a:rPr>
              <a:t>текстов</a:t>
            </a:r>
            <a:endParaRPr lang="ru-RU" sz="1150" b="0" dirty="0">
              <a:solidFill>
                <a:srgbClr val="1E1E2F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sz="1150" b="0" dirty="0">
              <a:solidFill>
                <a:srgbClr val="1E1E2F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4547691"/>
            <a:ext cx="2286000" cy="512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547691"/>
            <a:ext cx="64008" cy="512064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" y="4575123"/>
            <a:ext cx="2084831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Механики акций и выгода клиента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72384" y="1865376"/>
            <a:ext cx="3200400" cy="384048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72384" y="1865376"/>
            <a:ext cx="32004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ПРОМО-ФАБРИКА · ON-PREMISE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72384" y="2359152"/>
            <a:ext cx="3200400" cy="548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72384" y="2359152"/>
            <a:ext cx="64008" cy="54864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18688" y="2386584"/>
            <a:ext cx="2999232" cy="4937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LLM внутри периметра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72384" y="2980944"/>
            <a:ext cx="3200400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072384" y="2980944"/>
            <a:ext cx="64008" cy="60350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18688" y="3008376"/>
            <a:ext cx="2999232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Стратегия акций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идеи · прогноз · выбор · механика · сегмент · план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72384" y="3657600"/>
            <a:ext cx="3200400" cy="475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72384" y="3657600"/>
            <a:ext cx="64008" cy="47548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18688" y="3685032"/>
            <a:ext cx="2999232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E1E2F"/>
                </a:solidFill>
                <a:latin typeface="Arial"/>
              </a:rPr>
              <a:t>Коммуникации: тексты пуш · купон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72384" y="4206240"/>
            <a:ext cx="3200400" cy="475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072384" y="4206240"/>
            <a:ext cx="64008" cy="47548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18688" y="4233672"/>
            <a:ext cx="2999232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Оптимизатор эффективности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72384" y="4754879"/>
            <a:ext cx="3200400" cy="475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072384" y="4754879"/>
            <a:ext cx="64008" cy="47548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18688" y="4782312"/>
            <a:ext cx="2999232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Оркестратор кампаний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65392" y="1865376"/>
            <a:ext cx="2670048" cy="384048"/>
          </a:xfrm>
          <a:prstGeom prst="roundRect">
            <a:avLst>
              <a:gd name="adj" fmla="val 4500"/>
            </a:avLst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65392" y="1865376"/>
            <a:ext cx="2670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ЗАВЕДЕНИЕ · MANZANA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65392" y="2359152"/>
            <a:ext cx="2670048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65392" y="2359152"/>
            <a:ext cx="64008" cy="53035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11696" y="2509681"/>
            <a:ext cx="2468879" cy="22929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dirty="0" err="1">
                <a:solidFill>
                  <a:srgbClr val="1E1E2F"/>
                </a:solidFill>
                <a:latin typeface="Arial"/>
              </a:rPr>
              <a:t>Агент</a:t>
            </a:r>
            <a:r>
              <a:rPr sz="1250" b="1" dirty="0">
                <a:solidFill>
                  <a:srgbClr val="1E1E2F"/>
                </a:solidFill>
                <a:latin typeface="Arial"/>
              </a:rPr>
              <a:t> </a:t>
            </a:r>
            <a:r>
              <a:rPr lang="ru-RU" sz="1250" b="1" dirty="0">
                <a:solidFill>
                  <a:srgbClr val="1E1E2F"/>
                </a:solidFill>
                <a:latin typeface="Arial"/>
              </a:rPr>
              <a:t>по</a:t>
            </a:r>
            <a:r>
              <a:rPr sz="1250" b="1" dirty="0">
                <a:solidFill>
                  <a:srgbClr val="1E1E2F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E1E2F"/>
                </a:solidFill>
                <a:latin typeface="Arial"/>
              </a:rPr>
              <a:t>акци</a:t>
            </a:r>
            <a:r>
              <a:rPr lang="ru-RU" sz="1250" b="1" dirty="0">
                <a:solidFill>
                  <a:srgbClr val="1E1E2F"/>
                </a:solidFill>
                <a:latin typeface="Arial"/>
              </a:rPr>
              <a:t>ям</a:t>
            </a:r>
            <a:endParaRPr sz="1250" b="1" dirty="0">
              <a:solidFill>
                <a:srgbClr val="1E1E2F"/>
              </a:solidFill>
              <a:latin typeface="Arial"/>
            </a:endParaRPr>
          </a:p>
        </p:txBody>
      </p:sp>
      <p:sp>
        <p:nvSpPr>
          <p:cNvPr id="50" name="Down Arrow 49"/>
          <p:cNvSpPr/>
          <p:nvPr/>
        </p:nvSpPr>
        <p:spPr>
          <a:xfrm>
            <a:off x="7754112" y="2944368"/>
            <a:ext cx="292608" cy="164592"/>
          </a:xfrm>
          <a:prstGeom prst="downArrow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565392" y="3163824"/>
            <a:ext cx="2670048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565392" y="3163824"/>
            <a:ext cx="64008" cy="53035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11696" y="3191256"/>
            <a:ext cx="2468879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C4AB6"/>
                </a:solidFill>
                <a:latin typeface="Arial"/>
              </a:rPr>
              <a:t>Manzana Processing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акции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65392" y="3822191"/>
            <a:ext cx="2670048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565392" y="3822191"/>
            <a:ext cx="64008" cy="53035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11696" y="3977530"/>
            <a:ext cx="2468879" cy="2196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dirty="0" err="1">
                <a:solidFill>
                  <a:srgbClr val="1E1E2F"/>
                </a:solidFill>
                <a:latin typeface="Arial"/>
              </a:rPr>
              <a:t>Агент</a:t>
            </a:r>
            <a:r>
              <a:rPr sz="1250" b="1" dirty="0">
                <a:solidFill>
                  <a:srgbClr val="1E1E2F"/>
                </a:solidFill>
                <a:latin typeface="Arial"/>
              </a:rPr>
              <a:t> </a:t>
            </a:r>
            <a:r>
              <a:rPr lang="ru-RU" sz="1250" b="1" dirty="0">
                <a:solidFill>
                  <a:srgbClr val="1E1E2F"/>
                </a:solidFill>
                <a:latin typeface="Arial"/>
              </a:rPr>
              <a:t>по</a:t>
            </a:r>
            <a:r>
              <a:rPr sz="1250" b="1" dirty="0">
                <a:solidFill>
                  <a:srgbClr val="1E1E2F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E1E2F"/>
                </a:solidFill>
                <a:latin typeface="Arial"/>
              </a:rPr>
              <a:t>коммуникаци</a:t>
            </a:r>
            <a:r>
              <a:rPr lang="ru-RU" sz="1250" b="1" dirty="0">
                <a:solidFill>
                  <a:srgbClr val="1E1E2F"/>
                </a:solidFill>
                <a:latin typeface="Arial"/>
              </a:rPr>
              <a:t>ям</a:t>
            </a:r>
            <a:endParaRPr sz="1250" b="1" dirty="0">
              <a:solidFill>
                <a:srgbClr val="1E1E2F"/>
              </a:solidFill>
              <a:latin typeface="Arial"/>
            </a:endParaRPr>
          </a:p>
        </p:txBody>
      </p:sp>
      <p:sp>
        <p:nvSpPr>
          <p:cNvPr id="57" name="Down Arrow 56"/>
          <p:cNvSpPr/>
          <p:nvPr/>
        </p:nvSpPr>
        <p:spPr>
          <a:xfrm>
            <a:off x="7754112" y="4407407"/>
            <a:ext cx="292608" cy="164592"/>
          </a:xfrm>
          <a:prstGeom prst="downArrow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565392" y="4626864"/>
            <a:ext cx="2670048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565392" y="4626864"/>
            <a:ext cx="64008" cy="53035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711696" y="4654296"/>
            <a:ext cx="2468879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C4AB6"/>
                </a:solidFill>
                <a:latin typeface="Arial"/>
              </a:rPr>
              <a:t>Manzana Campaign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сообщения + slip-чеки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28048" y="1865376"/>
            <a:ext cx="2157984" cy="384048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28048" y="1865376"/>
            <a:ext cx="2157984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ЗАПУСК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28048" y="2359152"/>
            <a:ext cx="2157984" cy="512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528048" y="2359152"/>
            <a:ext cx="64008" cy="51206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2386584"/>
            <a:ext cx="1956815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1E2F"/>
                </a:solidFill>
                <a:latin typeface="Arial"/>
              </a:rPr>
              <a:t>Модератор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авто-проверка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10479024" y="2944368"/>
            <a:ext cx="256032" cy="146304"/>
          </a:xfrm>
          <a:prstGeom prst="down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9528048" y="3145536"/>
            <a:ext cx="2157984" cy="475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28048" y="3145536"/>
            <a:ext cx="64008" cy="47548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674352" y="3172968"/>
            <a:ext cx="195681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1E2F"/>
                </a:solidFill>
                <a:latin typeface="Arial"/>
              </a:rPr>
              <a:t>Ревью человеком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10479024" y="3694176"/>
            <a:ext cx="256032" cy="146304"/>
          </a:xfrm>
          <a:prstGeom prst="down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9528048" y="3895344"/>
            <a:ext cx="2157984" cy="475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528048" y="3895344"/>
            <a:ext cx="64008" cy="47548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74352" y="3922776"/>
            <a:ext cx="195681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9E5B"/>
                </a:solidFill>
                <a:latin typeface="Arial"/>
              </a:rPr>
              <a:t>Старт акции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28048" y="4443983"/>
            <a:ext cx="2157984" cy="457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528048" y="4443983"/>
            <a:ext cx="64008" cy="457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674352" y="4471416"/>
            <a:ext cx="1956815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Каналы: PUSH · slip → Клиент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072384" y="5669280"/>
            <a:ext cx="8375904" cy="329184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072384" y="5669280"/>
            <a:ext cx="837590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9E5B"/>
                </a:solidFill>
                <a:latin typeface="Arial"/>
              </a:rPr>
              <a:t>Обратная связь: факт отклика  →  Оптимизатор пересчитывает эффективность акций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4 · ЖИЗНЕННЫЙ ЦИКЛ АКЦИИ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Жизненный цикл акции: 9 этапов — от идеи до постанализа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64008" cy="160020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56231"/>
            <a:ext cx="1810512" cy="1545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EE7203"/>
                </a:solidFill>
                <a:latin typeface="Arial"/>
              </a:rPr>
              <a:t>1   </a:t>
            </a:r>
            <a:r>
              <a:rPr sz="1300" b="1">
                <a:solidFill>
                  <a:srgbClr val="1E1E2F"/>
                </a:solidFill>
                <a:latin typeface="Arial"/>
              </a:rPr>
              <a:t>Идея акции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генерация акций-кандидатов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78608" y="2446020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25496" y="1828800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25496" y="1828800"/>
            <a:ext cx="64008" cy="160020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2367802"/>
            <a:ext cx="1810512" cy="52219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dirty="0">
                <a:solidFill>
                  <a:srgbClr val="EE7203"/>
                </a:solidFill>
                <a:latin typeface="Arial"/>
              </a:rPr>
              <a:t>2   </a:t>
            </a:r>
            <a:r>
              <a:rPr sz="1300" b="1" dirty="0" err="1">
                <a:solidFill>
                  <a:srgbClr val="1E1E2F"/>
                </a:solidFill>
                <a:latin typeface="Arial"/>
              </a:rPr>
              <a:t>Прогноз</a:t>
            </a:r>
            <a:endParaRPr sz="1300" b="1" dirty="0">
              <a:solidFill>
                <a:srgbClr val="1E1E2F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dirty="0">
                <a:solidFill>
                  <a:srgbClr val="5B616E"/>
                </a:solidFill>
                <a:latin typeface="Arial"/>
              </a:rPr>
              <a:t>uplift </a:t>
            </a:r>
            <a:r>
              <a:rPr sz="1100" b="0" dirty="0" err="1">
                <a:solidFill>
                  <a:srgbClr val="5B616E"/>
                </a:solidFill>
                <a:latin typeface="Arial"/>
              </a:rPr>
              <a:t>и</a:t>
            </a:r>
            <a:r>
              <a:rPr sz="1100" b="0" dirty="0">
                <a:solidFill>
                  <a:srgbClr val="5B616E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B616E"/>
                </a:solidFill>
                <a:latin typeface="Arial"/>
              </a:rPr>
              <a:t>отклик</a:t>
            </a:r>
            <a:r>
              <a:rPr sz="1100" b="0" dirty="0">
                <a:solidFill>
                  <a:srgbClr val="5B616E"/>
                </a:solidFill>
                <a:latin typeface="Arial"/>
              </a:rPr>
              <a:t> 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5464" y="2446020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02352" y="1828800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02352" y="1828800"/>
            <a:ext cx="64008" cy="160020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48656" y="1856231"/>
            <a:ext cx="1810512" cy="1545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EE7203"/>
                </a:solidFill>
                <a:latin typeface="Arial"/>
              </a:rPr>
              <a:t>3   </a:t>
            </a:r>
            <a:r>
              <a:rPr sz="1300" b="1">
                <a:solidFill>
                  <a:srgbClr val="1E1E2F"/>
                </a:solidFill>
                <a:latin typeface="Arial"/>
              </a:rPr>
              <a:t>Выбор предложения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отбор лучших акций по прогнозу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32320" y="2446020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79208" y="1828800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79208" y="1828800"/>
            <a:ext cx="64008" cy="160020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25512" y="1856231"/>
            <a:ext cx="1810512" cy="1545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6C4AB6"/>
                </a:solidFill>
                <a:latin typeface="Arial"/>
              </a:rPr>
              <a:t>4   </a:t>
            </a:r>
            <a:r>
              <a:rPr sz="1300" b="1">
                <a:solidFill>
                  <a:srgbClr val="1E1E2F"/>
                </a:solidFill>
                <a:latin typeface="Arial"/>
              </a:rPr>
              <a:t>Механика + экономика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механика, юнит-экономика, маржа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09176" y="2446020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56064" y="1828800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56064" y="1828800"/>
            <a:ext cx="64008" cy="160020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02368" y="1856231"/>
            <a:ext cx="1810512" cy="1545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6C4AB6"/>
                </a:solidFill>
                <a:latin typeface="Arial"/>
              </a:rPr>
              <a:t>5   </a:t>
            </a:r>
            <a:r>
              <a:rPr sz="1300" b="1">
                <a:solidFill>
                  <a:srgbClr val="1E1E2F"/>
                </a:solidFill>
                <a:latin typeface="Arial"/>
              </a:rPr>
              <a:t>Сегмент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узкий подсегмент под акцию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479024" y="3474720"/>
            <a:ext cx="365760" cy="292608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674723" y="3977639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674723" y="3977639"/>
            <a:ext cx="64008" cy="160020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1027" y="4005072"/>
            <a:ext cx="1810512" cy="1545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6C4AB6"/>
                </a:solidFill>
                <a:latin typeface="Arial"/>
              </a:rPr>
              <a:t>6   </a:t>
            </a:r>
            <a:r>
              <a:rPr sz="1300" b="1">
                <a:solidFill>
                  <a:srgbClr val="1E1E2F"/>
                </a:solidFill>
                <a:latin typeface="Arial"/>
              </a:rPr>
              <a:t>План / сетка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календарь, частоты, анти-конфликт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04691" y="4594859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951579" y="3977639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951579" y="3977639"/>
            <a:ext cx="64008" cy="1600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97883" y="4005072"/>
            <a:ext cx="1810512" cy="1545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2E9E5B"/>
                </a:solidFill>
                <a:latin typeface="Arial"/>
              </a:rPr>
              <a:t>7   </a:t>
            </a:r>
            <a:r>
              <a:rPr sz="1300" b="1">
                <a:solidFill>
                  <a:srgbClr val="1E1E2F"/>
                </a:solidFill>
                <a:latin typeface="Arial"/>
              </a:rPr>
              <a:t>Заведение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Manzana Processing + Campaign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981547" y="4594859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28435" y="3977639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28435" y="3977639"/>
            <a:ext cx="64008" cy="1600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4739" y="4005072"/>
            <a:ext cx="1810512" cy="1545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2E9E5B"/>
                </a:solidFill>
                <a:latin typeface="Arial"/>
              </a:rPr>
              <a:t>8   </a:t>
            </a:r>
            <a:r>
              <a:rPr sz="1300" b="1">
                <a:solidFill>
                  <a:srgbClr val="1E1E2F"/>
                </a:solidFill>
                <a:latin typeface="Arial"/>
              </a:rPr>
              <a:t>Коммуникации и запуск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тексты · ревью · старт акции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258403" y="4594859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505291" y="3977639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505291" y="3977639"/>
            <a:ext cx="64008" cy="1600200"/>
          </a:xfrm>
          <a:prstGeom prst="rect">
            <a:avLst/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51595" y="4005072"/>
            <a:ext cx="1810512" cy="1545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1E1E2F"/>
                </a:solidFill>
                <a:latin typeface="Arial"/>
              </a:rPr>
              <a:t>9   </a:t>
            </a:r>
            <a:r>
              <a:rPr sz="1300" b="1">
                <a:solidFill>
                  <a:srgbClr val="1E1E2F"/>
                </a:solidFill>
                <a:latin typeface="Arial"/>
              </a:rPr>
              <a:t>Постанализ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факт vs прогноз → будущие прогнозы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5 · АГЕНТЫ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Команда агентов на весь цикл акции — от идеи до постанализа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50920" cy="457200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5509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СТРАТЕГИЯ И ПЛАНИРОВАНИЕ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02536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002536"/>
            <a:ext cx="64008" cy="7680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2029967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Генератор идей акций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оффер, повод, категория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43784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843784"/>
            <a:ext cx="64008" cy="7680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871215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Архитектор механики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механика, юнит-экономика, маржа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85032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685032"/>
            <a:ext cx="64008" cy="7680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3712464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Сегментатор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узкие подсегменты под акцию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64008" cy="7680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4553712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Прогнозист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uplift, отклик, прирост ТО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67528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5367528"/>
            <a:ext cx="64008" cy="7680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5394960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Планировщик сетки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календарь, анти-конфликт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9015" y="1417320"/>
            <a:ext cx="3550920" cy="457200"/>
          </a:xfrm>
          <a:prstGeom prst="roundRect">
            <a:avLst>
              <a:gd name="adj" fmla="val 4500"/>
            </a:avLst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19015" y="1417320"/>
            <a:ext cx="35509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ЗАВЕДЕНИЕ И КОММУНИКАЦИИ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9015" y="2002536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19015" y="2002536"/>
            <a:ext cx="64008" cy="7680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5320" y="2029967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Агент завода акций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акции → Manzana Processing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9015" y="2843784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19015" y="2843784"/>
            <a:ext cx="64008" cy="7680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65320" y="2871215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Агент завода коммуникаций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сообщения + slip-чеки → Campaign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9015" y="3685032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19015" y="3685032"/>
            <a:ext cx="64008" cy="7680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65320" y="3712464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Копирайт-агенты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заголовок · текст · голос бренда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9015" y="4526280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19015" y="4526280"/>
            <a:ext cx="64008" cy="7680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65320" y="4553712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Форматы и привязка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deeplink · купон · e-mail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9391" y="1417320"/>
            <a:ext cx="3550920" cy="457200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89391" y="1417320"/>
            <a:ext cx="35509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УПРАВЛЕНИЕ И ОПТИМИЗАЦИЯ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9391" y="2002536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9391" y="2002536"/>
            <a:ext cx="64008" cy="7680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35695" y="2029967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Оркестратор кампаний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дирижирует всем конвейером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89391" y="2843784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89391" y="2843784"/>
            <a:ext cx="64008" cy="7680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35695" y="2871215"/>
            <a:ext cx="334975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Оптимизатор эффективности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факт → переранжирование, дообучение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6 · АГЕНТЫ: ПРИОРИТЕТЫ, ОБУЧЕНИЕ, 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P0 — конвейер для пилота; P1 — масштаб и оптимизация; P2 — расширение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551630"/>
              </p:ext>
            </p:extLst>
          </p:nvPr>
        </p:nvGraphicFramePr>
        <p:xfrm>
          <a:off x="548640" y="1417320"/>
          <a:ext cx="1109167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Агент</a:t>
                      </a:r>
                    </a:p>
                  </a:txBody>
                  <a:tcPr marL="82296" marR="54864" marT="18288" marB="18288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Приор.</a:t>
                      </a:r>
                    </a:p>
                  </a:txBody>
                  <a:tcPr marL="82296" marR="54864" marT="18288" marB="18288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Как обучаем</a:t>
                      </a:r>
                    </a:p>
                  </a:txBody>
                  <a:tcPr marL="82296" marR="54864" marT="18288" marB="18288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Контекст / данные</a:t>
                      </a:r>
                    </a:p>
                  </a:txBody>
                  <a:tcPr marL="82296" marR="54864" marT="18288" marB="18288" anchor="ctr">
                    <a:solidFill>
                      <a:srgbClr val="1E1E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Генератор идей акций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Промпт + примеры удачных акций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Голос бренда, поводы, категории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Архитектор механики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Правила + ML на марже и чеках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Юнит-экономика, ассортимент, бюджеты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Сегментатор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ML-кластеризация + правила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MCI, чеки, история покупок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Прогнозист (uplift)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ML на истории акций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Историч. акции, отклик, продажи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Копирайт (заголовок, текст, голос)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Промпт + примеры + правила бренда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Голос бренда, лучшие тексты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Агент завода акций → Processing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5B616E"/>
                          </a:solidFill>
                          <a:latin typeface="Arial"/>
                        </a:rPr>
                        <a:t>Промпт</a:t>
                      </a:r>
                      <a:r>
                        <a:rPr sz="1050" b="0" dirty="0">
                          <a:solidFill>
                            <a:srgbClr val="5B616E"/>
                          </a:solidFill>
                          <a:latin typeface="Arial"/>
                        </a:rPr>
                        <a:t> + </a:t>
                      </a:r>
                      <a:r>
                        <a:rPr sz="1050" b="0" dirty="0" err="1">
                          <a:solidFill>
                            <a:srgbClr val="5B616E"/>
                          </a:solidFill>
                          <a:latin typeface="Arial"/>
                        </a:rPr>
                        <a:t>схемы</a:t>
                      </a:r>
                      <a:r>
                        <a:rPr sz="1050" b="0" dirty="0">
                          <a:solidFill>
                            <a:srgbClr val="5B616E"/>
                          </a:solidFill>
                          <a:latin typeface="Arial"/>
                        </a:rPr>
                        <a:t> Manzana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Manzana Processing, правила завода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Планировщик сетки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82296" marR="54864" marT="18288" marB="18288" anchor="ctr">
                    <a:solidFill>
                      <a:srgbClr val="6C4A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Правила + оптимизация календаря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Календарь, частоты, анти-конфликт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Агент завода коммуникаций → Campaign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100" b="1" kern="1200" dirty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+mn-cs"/>
                        </a:rPr>
                        <a:t>P</a:t>
                      </a:r>
                      <a:r>
                        <a:rPr lang="en-US" sz="1100" b="1" kern="1200" dirty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+mn-cs"/>
                        </a:rPr>
                        <a:t>0</a:t>
                      </a:r>
                      <a:endParaRPr sz="1100" b="1" kern="1200" dirty="0">
                        <a:solidFill>
                          <a:srgbClr val="FFFFFF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82296" marR="54864" marT="18288" marB="18288" anchor="ctr">
                    <a:solidFill>
                      <a:srgbClr val="6C4A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Промпт + схемы Manzana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Manzana Campaign, шаблоны slip-чеков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1E1E2F"/>
                          </a:solidFill>
                          <a:latin typeface="Arial"/>
                        </a:rPr>
                        <a:t>Оптимизатор</a:t>
                      </a:r>
                      <a:r>
                        <a:rPr sz="1100" b="1" dirty="0">
                          <a:solidFill>
                            <a:srgbClr val="1E1E2F"/>
                          </a:solidFill>
                          <a:latin typeface="Arial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E1E2F"/>
                          </a:solidFill>
                          <a:latin typeface="Arial"/>
                        </a:rPr>
                        <a:t>эффективности</a:t>
                      </a:r>
                      <a:endParaRPr sz="1100" b="1" dirty="0">
                        <a:solidFill>
                          <a:srgbClr val="1E1E2F"/>
                        </a:solidFill>
                        <a:latin typeface="Arial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82296" marR="54864" marT="18288" marB="18288" anchor="ctr">
                    <a:solidFill>
                      <a:srgbClr val="6C4A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Переобучение по факту отклика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Факт vs прогноз, A/B, продажи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1E1E2F"/>
                          </a:solidFill>
                          <a:latin typeface="Arial"/>
                        </a:rPr>
                        <a:t>Модерация</a:t>
                      </a:r>
                      <a:r>
                        <a:rPr sz="1100" b="1" dirty="0">
                          <a:solidFill>
                            <a:srgbClr val="1E1E2F"/>
                          </a:solidFill>
                          <a:latin typeface="Arial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1E1E2F"/>
                          </a:solidFill>
                          <a:latin typeface="Arial"/>
                        </a:rPr>
                        <a:t>комплаенс</a:t>
                      </a:r>
                      <a:endParaRPr sz="1100" b="1" dirty="0">
                        <a:solidFill>
                          <a:srgbClr val="1E1E2F"/>
                        </a:solidFill>
                        <a:latin typeface="Arial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82296" marR="54864" marT="18288" marB="18288" anchor="ctr">
                    <a:solidFill>
                      <a:srgbClr val="6C4A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Правила + классификаторы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ФЗ-38/152, табу, лимиты скидки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Форматы (купон, e-mail, deeplink)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 marL="82296" marR="54864" marT="18288" marB="18288" anchor="ctr">
                    <a:solidFill>
                      <a:srgbClr val="5B61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Промпт + примеры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5B616E"/>
                          </a:solidFill>
                          <a:latin typeface="Arial"/>
                        </a:rPr>
                        <a:t>Шаблоны</a:t>
                      </a:r>
                      <a:r>
                        <a:rPr sz="1050" b="0" dirty="0">
                          <a:solidFill>
                            <a:srgbClr val="5B616E"/>
                          </a:solidFill>
                          <a:latin typeface="Arial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5B616E"/>
                          </a:solidFill>
                          <a:latin typeface="Arial"/>
                        </a:rPr>
                        <a:t>форматов</a:t>
                      </a:r>
                      <a:endParaRPr sz="1050" b="0" dirty="0">
                        <a:solidFill>
                          <a:srgbClr val="5B616E"/>
                        </a:solidFill>
                        <a:latin typeface="Arial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9E5B"/>
                </a:solidFill>
                <a:latin typeface="Arial"/>
              </a:rPr>
              <a:t>Контекст:  </a:t>
            </a:r>
            <a:r>
              <a:rPr sz="1100" b="0">
                <a:solidFill>
                  <a:srgbClr val="1E1E2F"/>
                </a:solidFill>
                <a:latin typeface="Arial"/>
              </a:rPr>
              <a:t>база знаний (голос бренда · правила коммуникаций · механики · ассортимент) + данные сегментов и чеков; факт отклика дообучает прогнозиста и оптимизатор.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7 · МОДЕРАЦИЯ И ПРОВЕРКИ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Каждая акция и текст проходят 7 гейтов — от безопасности до ревью человеком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77845"/>
            <a:ext cx="5266944" cy="10607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77845"/>
            <a:ext cx="73152" cy="1060704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350997"/>
            <a:ext cx="497433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1   Гейт безопасности (до LLM)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698469"/>
            <a:ext cx="493775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Маскирование персональных данных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Наружу — только обезличенные метаданные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84853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484853"/>
            <a:ext cx="73152" cy="13350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558005"/>
            <a:ext cx="497433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2   Экономика акции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05477"/>
            <a:ext cx="4937759" cy="877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Юнит-экономика и маржа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Бюджет и потолок скидки по категории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Прогноз отсекает слабые акции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66181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966181"/>
            <a:ext cx="73152" cy="13350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4039333"/>
            <a:ext cx="497433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3   Анти-галлюцинации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86805"/>
            <a:ext cx="4937759" cy="877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5B616E"/>
                </a:solidFill>
                <a:latin typeface="Arial"/>
              </a:rPr>
              <a:t>• 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Запрет</a:t>
            </a:r>
            <a:r>
              <a:rPr sz="1150" b="0" dirty="0">
                <a:solidFill>
                  <a:srgbClr val="5B616E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выдуманных</a:t>
            </a:r>
            <a:r>
              <a:rPr sz="1150" b="0" dirty="0">
                <a:solidFill>
                  <a:srgbClr val="5B616E"/>
                </a:solidFill>
                <a:latin typeface="Arial"/>
              </a:rPr>
              <a:t> %,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сроков</a:t>
            </a:r>
            <a:r>
              <a:rPr sz="1150" b="0" dirty="0">
                <a:solidFill>
                  <a:srgbClr val="5B616E"/>
                </a:solidFill>
                <a:latin typeface="Arial"/>
              </a:rPr>
              <a:t>, SKU,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цен</a:t>
            </a:r>
            <a:endParaRPr sz="1150" b="0" dirty="0">
              <a:solidFill>
                <a:srgbClr val="5B616E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5B616E"/>
                </a:solidFill>
                <a:latin typeface="Arial"/>
              </a:rPr>
              <a:t>• 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Ссылки</a:t>
            </a:r>
            <a:r>
              <a:rPr sz="1150" b="0" dirty="0">
                <a:solidFill>
                  <a:srgbClr val="5B616E"/>
                </a:solidFill>
                <a:latin typeface="Arial"/>
              </a:rPr>
              <a:t> —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только</a:t>
            </a:r>
            <a:r>
              <a:rPr sz="1150" b="0" dirty="0">
                <a:solidFill>
                  <a:srgbClr val="5B616E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реальные</a:t>
            </a:r>
            <a:endParaRPr sz="1150" b="0" dirty="0">
              <a:solidFill>
                <a:srgbClr val="5B616E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5B616E"/>
                </a:solidFill>
                <a:latin typeface="Arial"/>
              </a:rPr>
              <a:t>•  Нет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данных</a:t>
            </a:r>
            <a:r>
              <a:rPr sz="1150" b="0" dirty="0">
                <a:solidFill>
                  <a:srgbClr val="5B616E"/>
                </a:solidFill>
                <a:latin typeface="Arial"/>
              </a:rPr>
              <a:t> →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вопрос</a:t>
            </a:r>
            <a:r>
              <a:rPr sz="1150" b="0" dirty="0">
                <a:solidFill>
                  <a:srgbClr val="5B616E"/>
                </a:solidFill>
                <a:latin typeface="Arial"/>
              </a:rPr>
              <a:t>,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не</a:t>
            </a:r>
            <a:r>
              <a:rPr sz="1150" b="0" dirty="0">
                <a:solidFill>
                  <a:srgbClr val="5B616E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B616E"/>
                </a:solidFill>
                <a:latin typeface="Arial"/>
              </a:rPr>
              <a:t>фантазия</a:t>
            </a:r>
            <a:endParaRPr sz="1150" b="0" dirty="0">
              <a:solidFill>
                <a:srgbClr val="5B616E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5412784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5412784"/>
            <a:ext cx="73152" cy="13350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5520661"/>
            <a:ext cx="497433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4   Бренд и голос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868133"/>
            <a:ext cx="4937759" cy="877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Обращение «ты», лексика и запреты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«минус N%», без слова «скидка»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Заголовок не дублирует тело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3368" y="1277845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73368" y="1277845"/>
            <a:ext cx="73152" cy="133502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92824" y="1350997"/>
            <a:ext cx="497433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5   Логика сетки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1698469"/>
            <a:ext cx="4937759" cy="877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Антидубль механики в одну неделю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Монеты — 1-я декада; частотные — Активные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Сегмент = реальная аудитория категории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368" y="2759173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73368" y="2759173"/>
            <a:ext cx="73152" cy="133502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92824" y="2832325"/>
            <a:ext cx="497433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6   Комплаенс и право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2824" y="3179796"/>
            <a:ext cx="4937759" cy="877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ФЗ-38 «О рекламе», 152-ФЗ о перс. данных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Фильтр токсичности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Длина и санитайз полей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3368" y="4240501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73368" y="4240501"/>
            <a:ext cx="73152" cy="133502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92824" y="4313653"/>
            <a:ext cx="497433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7   Ревью человеком + аудит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2824" y="4661125"/>
            <a:ext cx="4937759" cy="877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Обязательное финальное ревью человеком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Аудит-лог: кто, когда, что утвердил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Версионирование правил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8 · ПЛАН ПО РЕЗУЛЬТАТУ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dirty="0" err="1">
                <a:solidFill>
                  <a:srgbClr val="1E1E2F"/>
                </a:solidFill>
                <a:latin typeface="Arial"/>
              </a:rPr>
              <a:t>От</a:t>
            </a:r>
            <a:r>
              <a:rPr sz="2100" b="1" dirty="0">
                <a:solidFill>
                  <a:srgbClr val="1E1E2F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E1E2F"/>
                </a:solidFill>
                <a:latin typeface="Arial"/>
              </a:rPr>
              <a:t>закрытого</a:t>
            </a:r>
            <a:r>
              <a:rPr sz="2100" b="1" dirty="0">
                <a:solidFill>
                  <a:srgbClr val="1E1E2F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E1E2F"/>
                </a:solidFill>
                <a:latin typeface="Arial"/>
              </a:rPr>
              <a:t>пилота</a:t>
            </a:r>
            <a:r>
              <a:rPr sz="2100" b="1" dirty="0">
                <a:solidFill>
                  <a:srgbClr val="1E1E2F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E1E2F"/>
                </a:solidFill>
                <a:latin typeface="Arial"/>
              </a:rPr>
              <a:t>до</a:t>
            </a:r>
            <a:r>
              <a:rPr sz="2100" b="1" dirty="0">
                <a:solidFill>
                  <a:srgbClr val="1E1E2F"/>
                </a:solidFill>
                <a:latin typeface="Arial"/>
              </a:rPr>
              <a:t> +1,5 </a:t>
            </a:r>
            <a:r>
              <a:rPr sz="2100" b="1" dirty="0" err="1">
                <a:solidFill>
                  <a:srgbClr val="1E1E2F"/>
                </a:solidFill>
                <a:latin typeface="Arial"/>
              </a:rPr>
              <a:t>млрд</a:t>
            </a:r>
            <a:r>
              <a:rPr sz="2100" b="1" dirty="0">
                <a:solidFill>
                  <a:srgbClr val="1E1E2F"/>
                </a:solidFill>
                <a:latin typeface="Arial"/>
              </a:rPr>
              <a:t> ₽/</a:t>
            </a:r>
            <a:r>
              <a:rPr sz="2100" b="1" dirty="0" err="1">
                <a:solidFill>
                  <a:srgbClr val="1E1E2F"/>
                </a:solidFill>
                <a:latin typeface="Arial"/>
              </a:rPr>
              <a:t>год</a:t>
            </a:r>
            <a:r>
              <a:rPr sz="2100" b="1" dirty="0">
                <a:solidFill>
                  <a:srgbClr val="1E1E2F"/>
                </a:solidFill>
                <a:latin typeface="Arial"/>
              </a:rPr>
              <a:t> — </a:t>
            </a:r>
            <a:r>
              <a:rPr sz="2100" b="1" dirty="0" err="1">
                <a:solidFill>
                  <a:srgbClr val="1E1E2F"/>
                </a:solidFill>
                <a:latin typeface="Arial"/>
              </a:rPr>
              <a:t>через</a:t>
            </a:r>
            <a:r>
              <a:rPr sz="2100" b="1" dirty="0">
                <a:solidFill>
                  <a:srgbClr val="1E1E2F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E1E2F"/>
                </a:solidFill>
                <a:latin typeface="Arial"/>
              </a:rPr>
              <a:t>сегментацию</a:t>
            </a:r>
            <a:r>
              <a:rPr sz="2100" b="1" dirty="0">
                <a:solidFill>
                  <a:srgbClr val="1E1E2F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E1E2F"/>
                </a:solidFill>
                <a:latin typeface="Arial"/>
              </a:rPr>
              <a:t>всей</a:t>
            </a:r>
            <a:r>
              <a:rPr sz="2100" b="1" dirty="0">
                <a:solidFill>
                  <a:srgbClr val="1E1E2F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E1E2F"/>
                </a:solidFill>
                <a:latin typeface="Arial"/>
              </a:rPr>
              <a:t>базы</a:t>
            </a:r>
            <a:endParaRPr sz="2100" b="1" dirty="0">
              <a:solidFill>
                <a:srgbClr val="1E1E2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91672" cy="640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70507" y="1481328"/>
            <a:ext cx="201168" cy="201168"/>
          </a:xfrm>
          <a:prstGeom prst="ellipse">
            <a:avLst/>
          </a:prstGeom>
          <a:solidFill>
            <a:srgbClr val="EE720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865376"/>
            <a:ext cx="2608326" cy="4864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865376"/>
            <a:ext cx="2608326" cy="950976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2516886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FFF"/>
                </a:solidFill>
                <a:latin typeface="Arial"/>
              </a:rPr>
              <a:t>ЭТАП 1</a:t>
            </a:r>
            <a:r>
              <a:rPr lang="en-US" sz="1300" b="1" dirty="0">
                <a:solidFill>
                  <a:srgbClr val="FFFFFF"/>
                </a:solidFill>
                <a:latin typeface="Arial"/>
              </a:rPr>
              <a:t>.</a:t>
            </a:r>
            <a:r>
              <a:rPr lang="ru-RU" sz="1300" b="1" dirty="0">
                <a:solidFill>
                  <a:srgbClr val="FFFFFF"/>
                </a:solidFill>
                <a:latin typeface="Arial"/>
              </a:rPr>
              <a:t> Подготовительный</a:t>
            </a:r>
            <a:endParaRPr sz="13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212848"/>
            <a:ext cx="2516886" cy="5632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lang="ru-RU" sz="1200" b="1" dirty="0">
                <a:solidFill>
                  <a:srgbClr val="FFFFFF"/>
                </a:solidFill>
                <a:latin typeface="Arial"/>
              </a:rPr>
              <a:t>Подготовка коммуникаций</a:t>
            </a:r>
            <a:r>
              <a:rPr lang="en-US" sz="1200" b="1" dirty="0">
                <a:solidFill>
                  <a:srgbClr val="FFFFFF"/>
                </a:solidFill>
                <a:latin typeface="Arial"/>
              </a:rPr>
              <a:t>, </a:t>
            </a:r>
            <a:r>
              <a:rPr lang="ru-RU" sz="1200" b="1" dirty="0">
                <a:solidFill>
                  <a:srgbClr val="FFFFFF"/>
                </a:solidFill>
                <a:latin typeface="Arial"/>
              </a:rPr>
              <a:t>акций</a:t>
            </a:r>
            <a:r>
              <a:rPr lang="en-US" sz="1200" b="1" dirty="0">
                <a:solidFill>
                  <a:srgbClr val="FFFFFF"/>
                </a:solidFill>
                <a:latin typeface="Arial"/>
              </a:rPr>
              <a:t>, </a:t>
            </a:r>
            <a:r>
              <a:rPr lang="ru-RU" sz="1200" b="1" dirty="0">
                <a:solidFill>
                  <a:srgbClr val="FFFFFF"/>
                </a:solidFill>
                <a:latin typeface="Arial"/>
              </a:rPr>
              <a:t>заведение</a:t>
            </a:r>
            <a:r>
              <a:rPr lang="en-US" sz="1200" b="1" dirty="0">
                <a:solidFill>
                  <a:srgbClr val="FFFFFF"/>
                </a:solidFill>
                <a:latin typeface="Arial"/>
              </a:rPr>
              <a:t>,</a:t>
            </a:r>
            <a:r>
              <a:rPr lang="ru-RU" sz="1200" b="1" dirty="0">
                <a:solidFill>
                  <a:srgbClr val="FFFFFF"/>
                </a:solidFill>
                <a:latin typeface="Arial"/>
              </a:rPr>
              <a:t> сам бизнес-процесс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816352"/>
            <a:ext cx="2388870" cy="1060704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5" y="2871216"/>
            <a:ext cx="2388869" cy="10910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ru-RU" sz="1100" b="0" dirty="0">
                <a:solidFill>
                  <a:srgbClr val="1E1E2F"/>
                </a:solidFill>
                <a:latin typeface="Arial"/>
              </a:rPr>
              <a:t>Делаем готовое решение с точечным подключением 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Claude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на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сервере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ДИКСИ,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без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выгрузки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наружу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: </a:t>
            </a:r>
            <a:r>
              <a:rPr lang="ru-RU" sz="1100" dirty="0">
                <a:solidFill>
                  <a:srgbClr val="1E1E2F"/>
                </a:solidFill>
                <a:latin typeface="Arial"/>
              </a:rPr>
              <a:t>интерфейс</a:t>
            </a:r>
            <a:r>
              <a:rPr lang="en-US" sz="1100" dirty="0">
                <a:solidFill>
                  <a:srgbClr val="1E1E2F"/>
                </a:solidFill>
                <a:latin typeface="Arial"/>
              </a:rPr>
              <a:t>,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lang="ru-RU" sz="1100" dirty="0" err="1">
                <a:solidFill>
                  <a:srgbClr val="1E1E2F"/>
                </a:solidFill>
                <a:latin typeface="Arial"/>
              </a:rPr>
              <a:t>промты</a:t>
            </a:r>
            <a:r>
              <a:rPr lang="ru-RU" sz="1100" dirty="0">
                <a:solidFill>
                  <a:srgbClr val="1E1E2F"/>
                </a:solidFill>
                <a:latin typeface="Arial"/>
              </a:rPr>
              <a:t> для коммуникаций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и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скрипты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к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базе</a:t>
            </a:r>
            <a:r>
              <a:rPr lang="ru-RU" sz="1100" b="0" dirty="0">
                <a:solidFill>
                  <a:srgbClr val="1E1E2F"/>
                </a:solidFill>
                <a:latin typeface="Arial"/>
              </a:rPr>
              <a:t> для выгрузки сегментов</a:t>
            </a:r>
            <a:endParaRPr sz="1100" b="0" dirty="0">
              <a:solidFill>
                <a:srgbClr val="1E1E2F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08" y="3976369"/>
            <a:ext cx="227914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EE7203"/>
                </a:solidFill>
                <a:latin typeface="Arial"/>
              </a:rPr>
              <a:t>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290047"/>
            <a:ext cx="2279142" cy="23886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171450" indent="-17145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b="0" dirty="0">
                <a:solidFill>
                  <a:srgbClr val="5B616E"/>
                </a:solidFill>
                <a:latin typeface="Arial"/>
              </a:rPr>
              <a:t>Запуск по активным -100 акций</a:t>
            </a:r>
          </a:p>
          <a:p>
            <a:pPr marL="171450" indent="-17145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dirty="0">
                <a:solidFill>
                  <a:srgbClr val="5B616E"/>
                </a:solidFill>
                <a:latin typeface="Arial"/>
              </a:rPr>
              <a:t>согласованные правила и контекст для создания акций</a:t>
            </a:r>
          </a:p>
          <a:p>
            <a:pPr marL="171450" indent="-17145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dirty="0">
                <a:solidFill>
                  <a:srgbClr val="5B616E"/>
                </a:solidFill>
                <a:latin typeface="Arial"/>
              </a:rPr>
              <a:t>автоматизация процесса старта акций внутри</a:t>
            </a:r>
          </a:p>
          <a:p>
            <a:pPr marL="171450" indent="-17145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b="0" dirty="0">
                <a:solidFill>
                  <a:srgbClr val="5B616E"/>
                </a:solidFill>
                <a:latin typeface="Arial"/>
              </a:rPr>
              <a:t>ви</a:t>
            </a:r>
            <a:r>
              <a:rPr lang="ru-RU" sz="1150" dirty="0">
                <a:solidFill>
                  <a:srgbClr val="5B616E"/>
                </a:solidFill>
                <a:latin typeface="Arial"/>
              </a:rPr>
              <a:t>трина с прогнозами</a:t>
            </a:r>
          </a:p>
          <a:p>
            <a:pPr marL="171450" indent="-17145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b="0" dirty="0">
                <a:solidFill>
                  <a:srgbClr val="5B616E"/>
                </a:solidFill>
                <a:latin typeface="Arial"/>
              </a:rPr>
              <a:t>6 агентов на старт</a:t>
            </a:r>
          </a:p>
          <a:p>
            <a:pPr marL="171450" indent="-17145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dirty="0">
                <a:solidFill>
                  <a:srgbClr val="5B616E"/>
                </a:solidFill>
                <a:latin typeface="Arial"/>
              </a:rPr>
              <a:t>+ разворачивание аналитического дашборда внутри </a:t>
            </a:r>
            <a:r>
              <a:rPr lang="ru-RU" sz="1150" b="0" dirty="0">
                <a:solidFill>
                  <a:srgbClr val="5B616E"/>
                </a:solidFill>
                <a:latin typeface="Arial"/>
              </a:rPr>
              <a:t> ДИКСИ</a:t>
            </a:r>
            <a:endParaRPr sz="1150" b="0" dirty="0">
              <a:solidFill>
                <a:srgbClr val="5B616E"/>
              </a:solidFill>
              <a:latin typeface="Arial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598289" y="1481328"/>
            <a:ext cx="201168" cy="201168"/>
          </a:xfrm>
          <a:prstGeom prst="ellipse">
            <a:avLst/>
          </a:prstGeom>
          <a:solidFill>
            <a:srgbClr val="6C4A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76422" y="1865376"/>
            <a:ext cx="2608326" cy="4864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76422" y="1865375"/>
            <a:ext cx="2608326" cy="936352"/>
          </a:xfrm>
          <a:prstGeom prst="roundRect">
            <a:avLst>
              <a:gd name="adj" fmla="val 4500"/>
            </a:avLst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2142" y="1938528"/>
            <a:ext cx="2516886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FFF"/>
                </a:solidFill>
                <a:latin typeface="Arial"/>
              </a:rPr>
              <a:t>ЭТАП 2</a:t>
            </a:r>
            <a:r>
              <a:rPr lang="en-US" sz="1300" b="1" dirty="0">
                <a:solidFill>
                  <a:srgbClr val="FFFFFF"/>
                </a:solidFill>
                <a:latin typeface="Arial"/>
              </a:rPr>
              <a:t>. </a:t>
            </a:r>
            <a:r>
              <a:rPr lang="ru-RU" sz="1300" b="1" dirty="0">
                <a:solidFill>
                  <a:srgbClr val="FFFFFF"/>
                </a:solidFill>
                <a:latin typeface="Arial"/>
              </a:rPr>
              <a:t>  </a:t>
            </a:r>
            <a:endParaRPr sz="13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22142" y="2212848"/>
            <a:ext cx="2516886" cy="58887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lang="ru-RU" sz="1200" b="1" dirty="0">
                <a:solidFill>
                  <a:srgbClr val="FFFFFF"/>
                </a:solidFill>
                <a:latin typeface="Arial"/>
              </a:rPr>
              <a:t>Разворачивание 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
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полн</a:t>
            </a:r>
            <a:r>
              <a:rPr lang="ru-RU" sz="1200" b="1" dirty="0">
                <a:solidFill>
                  <a:srgbClr val="FFFFFF"/>
                </a:solidFill>
                <a:latin typeface="Arial"/>
              </a:rPr>
              <a:t>ой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архитектур</a:t>
            </a:r>
            <a:r>
              <a:rPr lang="ru-RU" sz="1200" b="1" dirty="0">
                <a:solidFill>
                  <a:srgbClr val="FFFFFF"/>
                </a:solidFill>
                <a:latin typeface="Arial"/>
              </a:rPr>
              <a:t>ы + работы с агентами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86150" y="2816352"/>
            <a:ext cx="2388870" cy="969264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5878" y="2871216"/>
            <a:ext cx="2187702" cy="877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dirty="0">
                <a:solidFill>
                  <a:srgbClr val="1E1E2F"/>
                </a:solidFill>
                <a:latin typeface="Arial"/>
              </a:rPr>
              <a:t>Разворачиваем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мультиагентную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промо-фабрику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и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интеграцию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с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Manzana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7590" y="3964794"/>
            <a:ext cx="227914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6C4AB6"/>
                </a:solidFill>
                <a:latin typeface="Arial"/>
              </a:rPr>
              <a:t>РЕЗУЛЬТАТ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7590" y="4257402"/>
            <a:ext cx="2279142" cy="1702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171450" indent="-1714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dirty="0">
                <a:solidFill>
                  <a:srgbClr val="5B616E"/>
                </a:solidFill>
                <a:latin typeface="Arial"/>
              </a:rPr>
              <a:t>разворачивание инфраструктуры и адаптация всех агентов </a:t>
            </a:r>
          </a:p>
          <a:p>
            <a:pPr marL="171450" indent="-1714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dirty="0">
                <a:solidFill>
                  <a:srgbClr val="5B616E"/>
                </a:solidFill>
                <a:latin typeface="Arial"/>
              </a:rPr>
              <a:t>Формирование агентов по оттоку и запуск акций </a:t>
            </a:r>
          </a:p>
          <a:p>
            <a:pPr marL="171450" indent="-1714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dirty="0">
                <a:solidFill>
                  <a:srgbClr val="5B616E"/>
                </a:solidFill>
                <a:latin typeface="Arial"/>
              </a:rPr>
              <a:t>Формирование условий модерации автоматической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150" b="0" dirty="0">
              <a:solidFill>
                <a:srgbClr val="5B616E"/>
              </a:solidFill>
              <a:latin typeface="Arial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426071" y="1481328"/>
            <a:ext cx="201168" cy="201168"/>
          </a:xfrm>
          <a:prstGeom prst="ellipse">
            <a:avLst/>
          </a:prstGeom>
          <a:solidFill>
            <a:srgbClr val="2E9E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04204" y="1865376"/>
            <a:ext cx="2608326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04204" y="1865376"/>
            <a:ext cx="2608326" cy="841248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9924" y="1938528"/>
            <a:ext cx="251688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ЭТАП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9924" y="2212848"/>
            <a:ext cx="2516886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Оптимизация и
отбор лучших акций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13932" y="2816352"/>
            <a:ext cx="2388870" cy="969264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3660" y="2871216"/>
            <a:ext cx="2187702" cy="9133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dirty="0">
                <a:solidFill>
                  <a:srgbClr val="1E1E2F"/>
                </a:solidFill>
                <a:latin typeface="Arial"/>
              </a:rPr>
              <a:t>Оптимизатор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считает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эффективность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по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факту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и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оставляет</a:t>
            </a:r>
            <a:r>
              <a:rPr sz="11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E1E2F"/>
                </a:solidFill>
                <a:latin typeface="Arial"/>
              </a:rPr>
              <a:t>сильнейшие</a:t>
            </a:r>
            <a:r>
              <a:rPr lang="en-US" sz="1100" b="0" dirty="0">
                <a:solidFill>
                  <a:srgbClr val="1E1E2F"/>
                </a:solidFill>
                <a:latin typeface="Arial"/>
              </a:rPr>
              <a:t>, </a:t>
            </a:r>
            <a:r>
              <a:rPr lang="ru-RU" sz="1100" b="0" dirty="0">
                <a:solidFill>
                  <a:srgbClr val="1E1E2F"/>
                </a:solidFill>
                <a:latin typeface="Arial"/>
              </a:rPr>
              <a:t>интерфейс для коммерческой службы и масс маркетинга</a:t>
            </a:r>
            <a:endParaRPr sz="1100" b="0" dirty="0">
              <a:solidFill>
                <a:srgbClr val="1E1E2F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5372" y="3918494"/>
            <a:ext cx="227914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2E9E5B"/>
                </a:solidFill>
                <a:latin typeface="Arial"/>
              </a:rPr>
              <a:t>РЕЗУЛЬТАТ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5372" y="4257402"/>
            <a:ext cx="2279142" cy="12672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>
            <a:defPPr>
              <a:defRPr lang="en-US"/>
            </a:defPPr>
            <a:lvl1pPr marL="171450" indent="-1714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150">
                <a:solidFill>
                  <a:srgbClr val="5B616E"/>
                </a:solidFill>
                <a:latin typeface="Arial"/>
              </a:defRPr>
            </a:lvl1pPr>
          </a:lstStyle>
          <a:p>
            <a:r>
              <a:rPr lang="ru-RU" dirty="0"/>
              <a:t>Оптимизатор акций – обучение </a:t>
            </a:r>
          </a:p>
          <a:p>
            <a:r>
              <a:rPr lang="ru-RU" dirty="0"/>
              <a:t>формирование дополнительных интерфейсов </a:t>
            </a:r>
          </a:p>
          <a:p>
            <a:endParaRPr dirty="0"/>
          </a:p>
        </p:txBody>
      </p:sp>
      <p:sp>
        <p:nvSpPr>
          <p:cNvPr id="35" name="Oval 34"/>
          <p:cNvSpPr/>
          <p:nvPr/>
        </p:nvSpPr>
        <p:spPr>
          <a:xfrm>
            <a:off x="10253853" y="1481328"/>
            <a:ext cx="201168" cy="201168"/>
          </a:xfrm>
          <a:prstGeom prst="ellipse">
            <a:avLst/>
          </a:prstGeom>
          <a:solidFill>
            <a:srgbClr val="1E1E2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031986" y="1865376"/>
            <a:ext cx="2608326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031986" y="1865376"/>
            <a:ext cx="2608326" cy="841248"/>
          </a:xfrm>
          <a:prstGeom prst="roundRect">
            <a:avLst>
              <a:gd name="adj" fmla="val 45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77706" y="1938528"/>
            <a:ext cx="251688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ЭТАП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706" y="2212848"/>
            <a:ext cx="2516886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Глубокое деление
и масштаб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1713" y="2816352"/>
            <a:ext cx="2388870" cy="969264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51442" y="2871216"/>
            <a:ext cx="2187702" cy="55784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ru-RU" sz="1100" b="0" dirty="0">
                <a:solidFill>
                  <a:srgbClr val="1E1E2F"/>
                </a:solidFill>
                <a:latin typeface="Arial"/>
              </a:rPr>
              <a:t>Формирование сложных механик с контентом в мобильном приложении </a:t>
            </a:r>
            <a:endParaRPr sz="1100" b="0" dirty="0">
              <a:solidFill>
                <a:srgbClr val="1E1E2F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233154" y="3906919"/>
            <a:ext cx="227914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dirty="0">
                <a:solidFill>
                  <a:srgbClr val="1E1E2F"/>
                </a:solidFill>
                <a:latin typeface="Arial"/>
              </a:rPr>
              <a:t>РЕЗУЛЬТАТ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3154" y="4257402"/>
            <a:ext cx="2279142" cy="12030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171450" indent="-17145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b="0" dirty="0">
                <a:solidFill>
                  <a:srgbClr val="5B616E"/>
                </a:solidFill>
                <a:latin typeface="Arial"/>
              </a:rPr>
              <a:t>Формирование собственной </a:t>
            </a:r>
            <a:r>
              <a:rPr lang="en-US" sz="1150" b="0" dirty="0">
                <a:solidFill>
                  <a:srgbClr val="5B616E"/>
                </a:solidFill>
                <a:latin typeface="Arial"/>
              </a:rPr>
              <a:t>DWH </a:t>
            </a:r>
            <a:r>
              <a:rPr lang="ru-RU" sz="1150" b="0" dirty="0">
                <a:solidFill>
                  <a:srgbClr val="5B616E"/>
                </a:solidFill>
                <a:latin typeface="Arial"/>
              </a:rPr>
              <a:t>и </a:t>
            </a:r>
            <a:r>
              <a:rPr lang="ru-RU" sz="1150" dirty="0">
                <a:solidFill>
                  <a:srgbClr val="5B616E"/>
                </a:solidFill>
                <a:latin typeface="Arial"/>
              </a:rPr>
              <a:t>моделей для </a:t>
            </a:r>
            <a:r>
              <a:rPr lang="en-US" sz="1150" dirty="0">
                <a:solidFill>
                  <a:srgbClr val="5B616E"/>
                </a:solidFill>
                <a:latin typeface="Arial"/>
              </a:rPr>
              <a:t>RTOM </a:t>
            </a:r>
            <a:r>
              <a:rPr lang="ru-RU" sz="1150" dirty="0">
                <a:solidFill>
                  <a:srgbClr val="5B616E"/>
                </a:solidFill>
                <a:latin typeface="Arial"/>
              </a:rPr>
              <a:t>и контента </a:t>
            </a:r>
            <a:r>
              <a:rPr lang="ru-RU" sz="1150" b="0" dirty="0">
                <a:solidFill>
                  <a:srgbClr val="5B616E"/>
                </a:solidFill>
                <a:latin typeface="Arial"/>
              </a:rPr>
              <a:t> </a:t>
            </a:r>
          </a:p>
          <a:p>
            <a:pPr marL="171450" indent="-17145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ru-RU" sz="1150" b="0" dirty="0">
                <a:solidFill>
                  <a:srgbClr val="5B616E"/>
                </a:solidFill>
                <a:latin typeface="Arial"/>
              </a:rPr>
              <a:t>формирование сложных </a:t>
            </a:r>
            <a:r>
              <a:rPr lang="en-US" sz="1150" b="0" dirty="0">
                <a:solidFill>
                  <a:srgbClr val="5B616E"/>
                </a:solidFill>
                <a:latin typeface="Arial"/>
              </a:rPr>
              <a:t>RTOM </a:t>
            </a:r>
            <a:r>
              <a:rPr lang="ru-RU" sz="1150" b="0" dirty="0">
                <a:solidFill>
                  <a:srgbClr val="5B616E"/>
                </a:solidFill>
                <a:latin typeface="Arial"/>
              </a:rPr>
              <a:t>механик с интерфейсом в приложении</a:t>
            </a:r>
            <a:endParaRPr sz="1150" b="0" dirty="0">
              <a:solidFill>
                <a:srgbClr val="5B616E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1354</Words>
  <Application>Microsoft Macintosh PowerPoint</Application>
  <PresentationFormat>Широкоэкранный</PresentationFormat>
  <Paragraphs>272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lena_koryakova@mail.ru</cp:lastModifiedBy>
  <cp:revision>4</cp:revision>
  <dcterms:created xsi:type="dcterms:W3CDTF">2013-01-27T09:14:16Z</dcterms:created>
  <dcterms:modified xsi:type="dcterms:W3CDTF">2026-06-11T10:51:01Z</dcterms:modified>
  <cp:category/>
</cp:coreProperties>
</file>