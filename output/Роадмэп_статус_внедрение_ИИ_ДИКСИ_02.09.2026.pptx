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9"/>
  </p:normalViewPr>
  <p:slideViewPr>
    <p:cSldViewPr snapToGrid="0" snapToObjects="1">
      <p:cViewPr varScale="1">
        <p:scale>
          <a:sx n="108" d="100"/>
          <a:sy n="108" d="100"/>
        </p:scale>
        <p:origin x="6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СТАТУС НА 02.09.2026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Этап 1 закрыт на 6 задач из 13: акции ДЦО на согласовании в КД, запуск коммуникаций — 37 неделя (07.09.–12.09.)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02.09.2026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2761488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9E5B"/>
                </a:solidFill>
                <a:latin typeface="Arial"/>
              </a:rPr>
              <a:t>ЭТАП 1 · ДЦО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6 из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задач этапа закрыто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11296" y="1298448"/>
            <a:ext cx="2761488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8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E7203"/>
                </a:solidFill>
                <a:latin typeface="Arial"/>
              </a:rPr>
              <a:t>СЕНТЯБРЬ · ДЦО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+43 млн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доп. ТО, расчёт от 02.09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(в плане было 27 млн ₽)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73952" y="1298448"/>
            <a:ext cx="2761488" cy="822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8544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C4AB6"/>
                </a:solidFill>
                <a:latin typeface="Arial"/>
              </a:rPr>
              <a:t>СТАТУС АКЦИЙ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На согласовании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акции ДЦО высланы в КД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36608" y="1298448"/>
            <a:ext cx="2761488" cy="82296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1E2F"/>
                </a:solidFill>
                <a:latin typeface="Arial"/>
              </a:rPr>
              <a:t>ПЕРВЫЕ КОММУНИКАЦИИ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37 неделя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07.09.–12.09., старт пилота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с контрольными группами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11155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ЧЕТЫРЕ ЭТАПА · АВГУСТ 2026 — МАРТ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054096"/>
            <a:ext cx="2724912" cy="6400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1 · авг–окт 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Персонализация ДЦО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Сервис, данные, MCI, КГ,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движок текстов, контент ДЦО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670 ч · </a:t>
            </a:r>
            <a:r>
              <a:rPr sz="1150" b="1">
                <a:solidFill>
                  <a:srgbClr val="2E9E5B"/>
                </a:solidFill>
                <a:latin typeface="Arial"/>
              </a:rPr>
              <a:t>Этап в работе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314700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93008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93008" y="3054096"/>
            <a:ext cx="2724912" cy="64008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0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2 · ноя 26 – янв 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CVM: 100 сегментов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100 сегментов, конвейер контента,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интерфейс, агенты, дашборды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1 202 ч · </a:t>
            </a:r>
            <a:r>
              <a:rPr sz="1150" b="1">
                <a:solidFill>
                  <a:srgbClr val="B9BFCA"/>
                </a:solidFill>
                <a:latin typeface="Arial"/>
              </a:rPr>
              <a:t>План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259068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437375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37375" y="3054096"/>
            <a:ext cx="2724912" cy="64008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01967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3 · фев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7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Масштаб 200 акций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7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Оптимизатор, 200 акций,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передача сервиса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7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310 ч · </a:t>
            </a:r>
            <a:r>
              <a:rPr sz="1150" b="1">
                <a:solidFill>
                  <a:srgbClr val="B9BFCA"/>
                </a:solidFill>
                <a:latin typeface="Arial"/>
              </a:rPr>
              <a:t>План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203436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381744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381744" y="3054096"/>
            <a:ext cx="2724912" cy="64008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46336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4 · мар 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46336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Дообучение на откликах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46336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Витрина откликов, дообучение,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стоп-листы, итоги пилота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6336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299 ч · </a:t>
            </a:r>
            <a:r>
              <a:rPr sz="1150" b="1">
                <a:solidFill>
                  <a:srgbClr val="B9BFCA"/>
                </a:solidFill>
                <a:latin typeface="Arial"/>
              </a:rPr>
              <a:t>План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754880"/>
            <a:ext cx="11100816" cy="1517904"/>
          </a:xfrm>
          <a:prstGeom prst="roundRect">
            <a:avLst>
              <a:gd name="adj" fmla="val 4500"/>
            </a:avLst>
          </a:prstGeom>
          <a:solidFill>
            <a:srgbClr val="FDF8F2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4828032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ДОП. ТОВАРООБОРОТ, млн ₽/мес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4882896"/>
            <a:ext cx="201168" cy="12801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56632" y="4809744"/>
            <a:ext cx="6858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ДЦО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33288" y="4882896"/>
            <a:ext cx="201168" cy="12801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89320" y="4809744"/>
            <a:ext cx="6858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CVM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5856836"/>
            <a:ext cx="731520" cy="105051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" y="5628236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43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сент.26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09928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581912" y="5601363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54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81912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окт.26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42616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642616" y="5829963"/>
            <a:ext cx="731520" cy="131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42616" y="5321807"/>
            <a:ext cx="731520" cy="50815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642616" y="5321807"/>
            <a:ext cx="731520" cy="5081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14600" y="5093207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262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14600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ноя.26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75304" y="5878824"/>
            <a:ext cx="731520" cy="83063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575304" y="5878824"/>
            <a:ext cx="731520" cy="8306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75304" y="5370669"/>
            <a:ext cx="731520" cy="50815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75304" y="5370669"/>
            <a:ext cx="731520" cy="5081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208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47288" y="5142069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242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47288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дек.26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07992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07992" y="5829963"/>
            <a:ext cx="731520" cy="131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07992" y="5585657"/>
            <a:ext cx="731520" cy="24430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07992" y="5585657"/>
            <a:ext cx="731520" cy="2443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79976" y="5357057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154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79976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янв.27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79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40679" y="5829963"/>
            <a:ext cx="731520" cy="131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79" y="5463505"/>
            <a:ext cx="731520" cy="36645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440679" y="5463505"/>
            <a:ext cx="731520" cy="36645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150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12664" y="5234905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204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12664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фев.27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75120" y="5138928"/>
            <a:ext cx="484632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ДЦО за период — 243 млн ₽,  CVM — 1 040 млн 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Совокупно за 6 месяцев ~1,28 млрд 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E7203"/>
                </a:solidFill>
                <a:latin typeface="Arial"/>
              </a:rPr>
              <a:t>Сентябрь по ДЦО пересчитан: 43 млн ₽ вместо 27 млн ₽ в плане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CVM включается с этапа 2. В файле оценки за сент.–окт. значение CVM не проставлено.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СТАТУС · 2 СЕНТЯБРЯ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Сделано на 2 сентября: сервис, данные ДЦО, сегментация MCI, контрольные группы, контент акций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02.09.2026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3602736" cy="4828032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16736"/>
            <a:ext cx="3602736" cy="38404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16736"/>
            <a:ext cx="332841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15668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81965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Сервис развёрнут: доступы, безопасность, бэкапы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36876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40864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Подключены данные ДЦО: клиенты, покупки, текущие акции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58084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286207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Встроен модуль сегментации MCI + интерфейс выбора сегментов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9292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38328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Настроены автоматические контрольные группы на базе MCI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00500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90448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Описана методология «сегмент → оффер»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21708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42569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ДЦО-акции переведены в персональный формат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316736"/>
            <a:ext cx="3602736" cy="4828032"/>
          </a:xfrm>
          <a:prstGeom prst="roundRect">
            <a:avLst>
              <a:gd name="adj" fmla="val 4500"/>
            </a:avLst>
          </a:prstGeom>
          <a:solidFill>
            <a:srgbClr val="FDF1E4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52544" y="1316736"/>
            <a:ext cx="3602736" cy="3840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1316736"/>
            <a:ext cx="332841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1915668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181965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Акции ДЦО высланы на согласование в КД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2436876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2340864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Движок персонализации текстов ДЦО под сегмент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424" y="2958084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286207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Агенты в обучении: копирайтер, редактор-гуманизатор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5424" y="3479292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338328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Первые коммуникации — 37 неделя (07.09.–12.09.)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4000500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390448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База знаний: шаблоны, скиллы, гайдлайны, tone of voice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5424" y="4521708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442569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Бизнес-процесс планирования и заведения ДЦО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35424" y="5042916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0" y="4946904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Отдельные среды под агентов, шифрование данных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35424" y="5564124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0" y="546811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Пересчитан эффект сентября: +43 млн ₽ по ДЦО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1316736"/>
            <a:ext cx="3602736" cy="482803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56448" y="1316736"/>
            <a:ext cx="3602736" cy="38404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1316736"/>
            <a:ext cx="332841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СЛЕДУЮЩИЕ ШАГИ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39327" y="1915668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58784" y="181965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Запуск коммуникаций и замер vs контрольные группы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9327" y="2436876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58784" y="2340864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Постэффекты пилота: отклик, доп. ТО, маржа по сегментам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9327" y="2958084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58784" y="286207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Приёмка этапа 1, старт этапа 2 — 100 сегментов с ноября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9327" y="3479292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58784" y="338328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Конвейер контента и интерфейс заведения акций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9327" y="4000500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58784" y="390448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Агенты: конструктор акций, оператор заведения, дизайнер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ЭТАП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Персонализация ДЦО: данные, сегментация и контент готовы; движок персонализации, пилот и процесс — в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02.09.2026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59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559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авг.26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6797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6797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сент.26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0033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0033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окт.26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3271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3271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ноя.26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508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36508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дек.26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89745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89745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янв.27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2982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2982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фев.27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96219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96219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мар.27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65376"/>
            <a:ext cx="11100816" cy="3017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167128"/>
            <a:ext cx="11100816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2468880"/>
            <a:ext cx="11100816" cy="3017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2770632"/>
            <a:ext cx="11100816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072384"/>
            <a:ext cx="11100816" cy="3017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374136"/>
            <a:ext cx="11100816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675887"/>
            <a:ext cx="11100816" cy="3017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977639"/>
            <a:ext cx="11100816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279392"/>
            <a:ext cx="11100816" cy="3017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581144"/>
            <a:ext cx="11100816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882896"/>
            <a:ext cx="11100816" cy="3017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5184648"/>
            <a:ext cx="11100816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100816" cy="3017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23559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76797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130033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83271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36508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389745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142982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896219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649456" y="1865376"/>
            <a:ext cx="7315" cy="3922776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054710" y="1554480"/>
            <a:ext cx="20116" cy="4233672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96342" y="1298448"/>
            <a:ext cx="1316736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E7203"/>
                </a:solidFill>
                <a:latin typeface="Arial"/>
              </a:rPr>
              <a:t>02.09 · 36 неделя</a:t>
            </a:r>
          </a:p>
        </p:txBody>
      </p:sp>
      <p:sp>
        <p:nvSpPr>
          <p:cNvPr id="47" name="Diamond 46"/>
          <p:cNvSpPr/>
          <p:nvPr/>
        </p:nvSpPr>
        <p:spPr>
          <a:xfrm>
            <a:off x="6708781" y="5833872"/>
            <a:ext cx="164592" cy="164592"/>
          </a:xfrm>
          <a:prstGeom prst="diamond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19093" y="5806440"/>
            <a:ext cx="48463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4AB6"/>
                </a:solidFill>
                <a:latin typeface="Arial"/>
              </a:rPr>
              <a:t>Первые персональные коммуникации — 37 неделя (07.09.–12.09.)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1865376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Развёртывание сервиса: доступы, безопасность, бэкапы</a:t>
            </a:r>
            <a:r>
              <a:rPr sz="1000" b="0">
                <a:solidFill>
                  <a:srgbClr val="5B616E"/>
                </a:solidFill>
                <a:latin typeface="Arial"/>
              </a:rPr>
              <a:t>  1.1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79" y="1931761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9279" y="1931761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2167128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Интеграция источников данных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79" y="2233513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79" y="2233513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2468880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Модуль сегментации MCI + интерфейс сегментов</a:t>
            </a:r>
            <a:r>
              <a:rPr sz="1000" b="0">
                <a:solidFill>
                  <a:srgbClr val="5B616E"/>
                </a:solidFill>
                <a:latin typeface="Arial"/>
              </a:rPr>
              <a:t>  1.3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79" y="2535265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69279" y="2535265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2770632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Автоматические контрольные группы на базе MCI</a:t>
            </a:r>
            <a:r>
              <a:rPr sz="1000" b="0">
                <a:solidFill>
                  <a:srgbClr val="5B616E"/>
                </a:solidFill>
                <a:latin typeface="Arial"/>
              </a:rPr>
              <a:t>  1.4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79" y="2837017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69279" y="2837017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3072384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Движок персонализации текстов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79" y="3138769"/>
            <a:ext cx="2168271" cy="168981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69279" y="3138769"/>
            <a:ext cx="2168271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3374136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Методология персонализации: сегмент → оффер</a:t>
            </a:r>
            <a:r>
              <a:rPr sz="1000" b="0">
                <a:solidFill>
                  <a:srgbClr val="5B616E"/>
                </a:solidFill>
                <a:latin typeface="Arial"/>
              </a:rPr>
              <a:t>  1.6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79" y="3440521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69279" y="3440521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675887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Перевод ДЦО-акций в персональный формат</a:t>
            </a:r>
            <a:r>
              <a:rPr sz="1000" b="0">
                <a:solidFill>
                  <a:srgbClr val="5B616E"/>
                </a:solidFill>
                <a:latin typeface="Arial"/>
              </a:rPr>
              <a:t>  1.7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79" y="3742273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69279" y="3742273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3977639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База знаний: шаблоны, скиллы, tone of voice</a:t>
            </a:r>
            <a:r>
              <a:rPr sz="1000" b="0">
                <a:solidFill>
                  <a:srgbClr val="5B616E"/>
                </a:solidFill>
                <a:latin typeface="Arial"/>
              </a:rPr>
              <a:t>  1.8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22517" y="4044025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22517" y="4044025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279392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Бизнес-процесс планирования и заведения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1.9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22517" y="4345777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22517" y="4345777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4581144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Пилот + постэффекты vs контрольная группа</a:t>
            </a:r>
            <a:r>
              <a:rPr sz="1000" b="0">
                <a:solidFill>
                  <a:srgbClr val="5B616E"/>
                </a:solidFill>
                <a:latin typeface="Arial"/>
              </a:rPr>
              <a:t>  1.10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22517" y="4647529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22517" y="4647529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882896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Серверы под агентов: изолированные среды</a:t>
            </a:r>
            <a:r>
              <a:rPr sz="1000" b="0">
                <a:solidFill>
                  <a:srgbClr val="5B616E"/>
                </a:solidFill>
                <a:latin typeface="Arial"/>
              </a:rPr>
              <a:t>  1.12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22517" y="4949281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22517" y="4949281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184648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Безопасность: шифрование данных для агентов</a:t>
            </a:r>
            <a:r>
              <a:rPr sz="1000" b="0">
                <a:solidFill>
                  <a:srgbClr val="5B616E"/>
                </a:solidFill>
                <a:latin typeface="Arial"/>
              </a:rPr>
              <a:t>  1.13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22517" y="5251033"/>
            <a:ext cx="1415034" cy="168981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22517" y="5251033"/>
            <a:ext cx="1415034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486400"/>
            <a:ext cx="4928616" cy="3017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Управление этапом: статусы, демо, приёмка</a:t>
            </a:r>
            <a:r>
              <a:rPr sz="1000" b="0">
                <a:solidFill>
                  <a:srgbClr val="5B616E"/>
                </a:solidFill>
                <a:latin typeface="Arial"/>
              </a:rPr>
              <a:t>  1.11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9279" y="5552785"/>
            <a:ext cx="2168271" cy="168981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669279" y="5552785"/>
            <a:ext cx="2168271" cy="16898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1554480"/>
            <a:ext cx="11100816" cy="4233672"/>
          </a:xfrm>
          <a:prstGeom prst="rect">
            <a:avLst/>
          </a:prstGeom>
          <a:noFill/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66928" y="1266444"/>
            <a:ext cx="23774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77824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Сделано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65376" y="1266444"/>
            <a:ext cx="237744" cy="1463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176272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В работе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63824" y="1266444"/>
            <a:ext cx="237744" cy="146304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74720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План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20640" y="1188720"/>
            <a:ext cx="6583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Этап 1 · 13 задач: 6 закрыто, 7 в работе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6144768"/>
            <a:ext cx="11155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Акции ДЦО по задаче 1.7 переданы на согласование в коммерческую дирекцию; пилот 1.10 стартует после согласования.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ЭТАПЫ 2–4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 ноября — масштаб до 100 сегментов, затем 200 акций в месяц и дообучение агентов на откликах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02.09.2026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59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авг.26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776847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6847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сент.26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2933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2933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окт.26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9021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9021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ноя.26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5108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5108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дек.26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1195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61195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янв.27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57282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57282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фев.27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53369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53369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мар.27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6537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13969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241401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268833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96265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23697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51129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78561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059935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33425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60857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88289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515721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43153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570585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80759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776847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72933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69021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865108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561195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257282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953369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649456" y="1865376"/>
            <a:ext cx="7315" cy="411480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03325" y="1554480"/>
            <a:ext cx="20116" cy="44256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44957" y="1298448"/>
            <a:ext cx="1316736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E7203"/>
                </a:solidFill>
                <a:latin typeface="Arial"/>
              </a:rPr>
              <a:t>02.09 · 36 неделя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186537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1865376"/>
            <a:ext cx="1091793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2 · ноябрь 2026 — январь 2027 · Полноценный CVM: 100 сегментов · 1 202 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213969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100 сегментов MCI в проекте: конфиг, обновление, выгрузки</a:t>
            </a:r>
            <a:r>
              <a:rPr sz="950" b="0">
                <a:solidFill>
                  <a:srgbClr val="5B616E"/>
                </a:solidFill>
                <a:latin typeface="Arial"/>
              </a:rPr>
              <a:t>  2.1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14741" y="220004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14741" y="220004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241401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Конвейер генерации контента + контент под 100 сегментов</a:t>
            </a:r>
            <a:r>
              <a:rPr sz="950" b="0">
                <a:solidFill>
                  <a:srgbClr val="5B616E"/>
                </a:solidFill>
                <a:latin typeface="Arial"/>
              </a:rPr>
              <a:t>  2.2 · 2.7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14741" y="247436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14741" y="247436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268833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Операционный интерфейс заведения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2.3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14741" y="274868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14741" y="274868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296265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Деплинки, SKU и механики в конвейере</a:t>
            </a:r>
            <a:r>
              <a:rPr sz="950" b="0">
                <a:solidFill>
                  <a:srgbClr val="5B616E"/>
                </a:solidFill>
                <a:latin typeface="Arial"/>
              </a:rPr>
              <a:t>  2.4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14741" y="302300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14741" y="302300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323697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Агенты: конструктор, оператор, дизайнер, оптимизатор</a:t>
            </a:r>
            <a:r>
              <a:rPr sz="950" b="0">
                <a:solidFill>
                  <a:srgbClr val="5B616E"/>
                </a:solidFill>
                <a:latin typeface="Arial"/>
              </a:rPr>
              <a:t>  2.5 · 2.13 · 2.15–2.16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14741" y="329732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14741" y="329732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351129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Дашборд эффективности и постэффекты сегментных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2.6 · 2.14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14741" y="357164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14741" y="357164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378561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Методология 100 сегментов, процесс, обучение команды заказчика</a:t>
            </a:r>
            <a:r>
              <a:rPr sz="950" b="0">
                <a:solidFill>
                  <a:srgbClr val="5B616E"/>
                </a:solidFill>
                <a:latin typeface="Arial"/>
              </a:rPr>
              <a:t>  2.8–2.12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14741" y="384596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14741" y="384596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4059935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0080" y="4059935"/>
            <a:ext cx="1091793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3 · февраль 2027 · Масштаб + простая оптимизация · 310 ч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433425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200 акций через конвейер + автоподбор оффера и сегмента</a:t>
            </a:r>
            <a:r>
              <a:rPr sz="950" b="0">
                <a:solidFill>
                  <a:srgbClr val="5B616E"/>
                </a:solidFill>
                <a:latin typeface="Arial"/>
              </a:rPr>
              <a:t>  3.2 · 3.3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303002" y="439460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03002" y="439460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460857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Стабилизация интерфейса, отчёт по эффекту, передача сервиса</a:t>
            </a:r>
            <a:r>
              <a:rPr sz="950" b="0">
                <a:solidFill>
                  <a:srgbClr val="5B616E"/>
                </a:solidFill>
                <a:latin typeface="Arial"/>
              </a:rPr>
              <a:t>  3.1 · 3.4–3.6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303002" y="466892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303002" y="466892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488289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0080" y="4882896"/>
            <a:ext cx="1091793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4 · март 2027 · Дообучение на откликах и ограничения товаров · 299 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15721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Витрина откликов клиентов, дообучение и калибровка агентов</a:t>
            </a:r>
            <a:r>
              <a:rPr sz="950" b="0">
                <a:solidFill>
                  <a:srgbClr val="5B616E"/>
                </a:solidFill>
                <a:latin typeface="Arial"/>
              </a:rPr>
              <a:t>  4.1–4.4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999089" y="521756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999089" y="521756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43153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Стоп-листы товаров и ограничения в конструкторе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4.5 · 4.6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999089" y="549188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999089" y="549188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70585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Коррекция методологии по итогам пилота, итоговая аналитика</a:t>
            </a:r>
            <a:r>
              <a:rPr sz="950" b="0">
                <a:solidFill>
                  <a:srgbClr val="5B616E"/>
                </a:solidFill>
                <a:latin typeface="Arial"/>
              </a:rPr>
              <a:t>  4.7–4.10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99089" y="576620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999089" y="576620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1554480"/>
            <a:ext cx="11100816" cy="4425696"/>
          </a:xfrm>
          <a:prstGeom prst="rect">
            <a:avLst/>
          </a:prstGeom>
          <a:noFill/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566928" y="1266444"/>
            <a:ext cx="23774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7824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Сделано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65376" y="1266444"/>
            <a:ext cx="237744" cy="1463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176272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В работе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163824" y="1266444"/>
            <a:ext cx="237744" cy="146304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474720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План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955</Words>
  <Application>Microsoft Macintosh PowerPoint</Application>
  <PresentationFormat>Широкоэкранный</PresentationFormat>
  <Paragraphs>180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lena_koryakova@mail.ru</cp:lastModifiedBy>
  <cp:revision>1</cp:revision>
  <dcterms:created xsi:type="dcterms:W3CDTF">2013-01-27T09:14:16Z</dcterms:created>
  <dcterms:modified xsi:type="dcterms:W3CDTF">2026-09-02T14:20:25Z</dcterms:modified>
  <cp:category/>
</cp:coreProperties>
</file>