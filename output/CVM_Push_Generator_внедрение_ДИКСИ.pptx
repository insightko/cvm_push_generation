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18872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7203"/>
                </a:solidFill>
                <a:latin typeface="Arial"/>
              </a:rPr>
              <a:t>ЗАПУСК АКЦИЙ · ЗАКРЫТЫЙ КОНТУР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ИИ-конвейер запуска акций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от идеи акции до постанализа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>
                <a:solidFill>
                  <a:srgbClr val="C9CDD6"/>
                </a:solidFill>
                <a:latin typeface="Arial"/>
              </a:rPr>
              <a:t>внутри периметра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9CDD6"/>
                </a:solidFill>
                <a:latin typeface="Arial"/>
              </a:rPr>
              <a:t>Бизнес-кейс · Архитектура · Жизненный цикл · Агенты · Обучение · Модерация · План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B616E"/>
                </a:solidFill>
                <a:latin typeface="Arial"/>
              </a:rPr>
              <a:t>Сегментные акции: +20 ₽/клиента vs +3 ₽  →  потенциал до +1,5 млрд ₽/год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1 · БИЗНЕС-КЕЙС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Сегментные акции дают +20 ₽/клиента против +3 ₽ — потенциал до +1,5 млрд ₽/год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Широкая рассылка vs сегментные акции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2788920" cy="475488"/>
          </a:xfrm>
          <a:prstGeom prst="rect">
            <a:avLst/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691640"/>
            <a:ext cx="1280160" cy="475488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691640"/>
            <a:ext cx="1417320" cy="47548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91640"/>
            <a:ext cx="2679191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40"/>
            <a:ext cx="12801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Широкая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691640"/>
            <a:ext cx="14173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Сегментная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67128"/>
            <a:ext cx="548639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167128"/>
            <a:ext cx="2679191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1E2F"/>
                </a:solidFill>
                <a:latin typeface="Arial"/>
              </a:rPr>
              <a:t>Доп. ТО на клиента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167128"/>
            <a:ext cx="12801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B616E"/>
                </a:solidFill>
                <a:latin typeface="Arial"/>
              </a:rPr>
              <a:t>+3 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167128"/>
            <a:ext cx="14173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EE7203"/>
                </a:solidFill>
                <a:latin typeface="Arial"/>
              </a:rPr>
              <a:t>+20 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42616"/>
            <a:ext cx="5486399" cy="475488"/>
          </a:xfrm>
          <a:prstGeom prst="rect">
            <a:avLst/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642616"/>
            <a:ext cx="2679191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1E2F"/>
                </a:solidFill>
                <a:latin typeface="Arial"/>
              </a:rPr>
              <a:t>Доля акций «в плюсе»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642616"/>
            <a:ext cx="12801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B616E"/>
                </a:solidFill>
                <a:latin typeface="Arial"/>
              </a:rPr>
              <a:t>58%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642616"/>
            <a:ext cx="14173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EE7203"/>
                </a:solidFill>
                <a:latin typeface="Arial"/>
              </a:rPr>
              <a:t>68%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18104"/>
            <a:ext cx="548639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118104"/>
            <a:ext cx="2679191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1E2F"/>
                </a:solidFill>
                <a:latin typeface="Arial"/>
              </a:rPr>
              <a:t>Переход по ссылке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118104"/>
            <a:ext cx="12801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B616E"/>
                </a:solidFill>
                <a:latin typeface="Arial"/>
              </a:rPr>
              <a:t>~4%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118104"/>
            <a:ext cx="14173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EE7203"/>
                </a:solidFill>
                <a:latin typeface="Arial"/>
              </a:rPr>
              <a:t>8–12%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325880"/>
            <a:ext cx="537667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Переход растёт с точностью сегмента,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81267" y="2804160"/>
            <a:ext cx="640080" cy="396240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511552"/>
            <a:ext cx="1075334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5B616E"/>
                </a:solidFill>
                <a:latin typeface="Arial"/>
              </a:rPr>
              <a:t>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236976"/>
            <a:ext cx="107533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Широкий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56601" y="2506980"/>
            <a:ext cx="640080" cy="693420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38974" y="2214372"/>
            <a:ext cx="1075334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7203"/>
                </a:solidFill>
                <a:latin typeface="Arial"/>
              </a:rPr>
              <a:t>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8974" y="3236976"/>
            <a:ext cx="107533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Мамы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31936" y="2407920"/>
            <a:ext cx="640080" cy="792480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4308" y="2115312"/>
            <a:ext cx="1075334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7203"/>
                </a:solidFill>
                <a:latin typeface="Arial"/>
              </a:rPr>
              <a:t>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4308" y="3236976"/>
            <a:ext cx="107533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Готовая
еда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07270" y="2308860"/>
            <a:ext cx="640080" cy="891540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89643" y="2016252"/>
            <a:ext cx="1075334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7203"/>
                </a:solidFill>
                <a:latin typeface="Arial"/>
              </a:rPr>
              <a:t>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89643" y="3236976"/>
            <a:ext cx="107533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Быт.
химия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782604" y="2011680"/>
            <a:ext cx="640080" cy="11887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64977" y="1719072"/>
            <a:ext cx="1075334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E9E5B"/>
                </a:solidFill>
                <a:latin typeface="Arial"/>
              </a:rPr>
              <a:t>12%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4977" y="3236976"/>
            <a:ext cx="107533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Зоо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950208"/>
            <a:ext cx="10972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Потенциал на активной push-базе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315968"/>
            <a:ext cx="3401568" cy="1024128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9050">
            <a:solidFill>
              <a:srgbClr val="1E1E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4425696"/>
            <a:ext cx="307238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E1E2F"/>
                </a:solidFill>
                <a:latin typeface="Arial"/>
              </a:rPr>
              <a:t>2,6 млн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4846320"/>
            <a:ext cx="307238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активных клиентов
доступны по push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986784" y="4663440"/>
            <a:ext cx="384048" cy="329184"/>
          </a:xfrm>
          <a:prstGeom prst="rightArrow">
            <a:avLst/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407408" y="4315968"/>
            <a:ext cx="3401568" cy="1024128"/>
          </a:xfrm>
          <a:prstGeom prst="roundRect">
            <a:avLst>
              <a:gd name="adj" fmla="val 4500"/>
            </a:avLst>
          </a:prstGeom>
          <a:solidFill>
            <a:srgbClr val="FDF8F2"/>
          </a:solidFill>
          <a:ln w="19050">
            <a:solidFill>
              <a:srgbClr val="EE72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0" y="4425696"/>
            <a:ext cx="307238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E7203"/>
                </a:solidFill>
                <a:latin typeface="Arial"/>
              </a:rPr>
              <a:t>+600 млн ₽/год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846320"/>
            <a:ext cx="307238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категорийная сегментация
всей базы: +20 ₽/клиента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7845552" y="4663440"/>
            <a:ext cx="384048" cy="329184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66175" y="4315968"/>
            <a:ext cx="3401568" cy="1024128"/>
          </a:xfrm>
          <a:prstGeom prst="roundRect">
            <a:avLst>
              <a:gd name="adj" fmla="val 4500"/>
            </a:avLst>
          </a:prstGeom>
          <a:solidFill>
            <a:srgbClr val="EFF6F0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30767" y="4425696"/>
            <a:ext cx="307238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E9E5B"/>
                </a:solidFill>
                <a:latin typeface="Arial"/>
              </a:rPr>
              <a:t>до +1,5 млрд ₽/год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0767" y="4846320"/>
            <a:ext cx="307238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глубокое деление аудиторий,
до +50 ₽/клиента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468112"/>
            <a:ext cx="11091672" cy="420624"/>
          </a:xfrm>
          <a:prstGeom prst="roundRect">
            <a:avLst>
              <a:gd name="adj" fmla="val 4500"/>
            </a:avLst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468112"/>
            <a:ext cx="106984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E7203"/>
                </a:solidFill>
                <a:latin typeface="Arial"/>
              </a:rPr>
              <a:t>ЧТОБЫ ПОКРЫТЬ ВСЕ ПОДСЕГМЕНТЫ:  </a:t>
            </a:r>
            <a:r>
              <a:rPr sz="1150" b="0">
                <a:solidFill>
                  <a:srgbClr val="FFFFFF"/>
                </a:solidFill>
                <a:latin typeface="Arial"/>
              </a:rPr>
              <a:t>~20-25 → ~200 акций/мес (×8-10)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16E"/>
                </a:solidFill>
                <a:latin typeface="Arial"/>
              </a:rPr>
              <a:t>Источник: слайд «Эффективность сегментных акций», CVM, окт.2025–май.2026; сегмент «Активные», медианы, эффект vs контрольная группа.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2 · ВЕРХНЕУРОВНЕВАЯ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Решение строится снизу вверх: инфраструктура → база знаний → агенты → модератор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8549640" cy="365760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85496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↑  ВЫПУСК: действие в Manzana и каналах (push · slip)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10512"/>
            <a:ext cx="8549640" cy="9692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00584" cy="96926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2039111"/>
            <a:ext cx="512064" cy="51206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020824"/>
            <a:ext cx="512064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1901952"/>
            <a:ext cx="274320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62828"/>
                </a:solidFill>
                <a:latin typeface="Arial"/>
              </a:rPr>
              <a:t>Модератор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проверяет каждого агента до действия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83664"/>
            <a:ext cx="46177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безопасность · экономика акции · голос бренда · комплаенс (ФЗ-38/152) · анти-дубли · ревью человеком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07792"/>
            <a:ext cx="8549640" cy="9692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907792"/>
            <a:ext cx="100584" cy="96926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6384" y="3136391"/>
            <a:ext cx="512064" cy="512064"/>
          </a:xfrm>
          <a:prstGeom prst="ellipse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118104"/>
            <a:ext cx="512064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2999232"/>
            <a:ext cx="274320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7203"/>
                </a:solidFill>
                <a:latin typeface="Arial"/>
              </a:rPr>
              <a:t>Агенты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команда на весь цикл акции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980944"/>
            <a:ext cx="46177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идея · прогноз · выбор предложения · механика · сегмент · план · заведение · тексты · оптимизация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05072"/>
            <a:ext cx="8549640" cy="9692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005072"/>
            <a:ext cx="100584" cy="96926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6384" y="4233672"/>
            <a:ext cx="512064" cy="512064"/>
          </a:xfrm>
          <a:prstGeom prst="ellipse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215384"/>
            <a:ext cx="512064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96511"/>
            <a:ext cx="274320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4AB6"/>
                </a:solidFill>
                <a:latin typeface="Arial"/>
              </a:rPr>
              <a:t>База знаний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на ней обучаются агенты 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078224"/>
            <a:ext cx="46177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голос бренда: «ты», лексика, запреты · правила коммуникаций: длины и структура текстов · механики акций и расчёт выгоды для клиента · соответствие сегментов и категорий · удачные примеры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02352"/>
            <a:ext cx="8549640" cy="9692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00584" cy="969264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86384" y="5330952"/>
            <a:ext cx="512064" cy="512064"/>
          </a:xfrm>
          <a:prstGeom prst="ellipse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312664"/>
            <a:ext cx="512064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5193792"/>
            <a:ext cx="2743200" cy="7863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5B616E"/>
                </a:solidFill>
                <a:latin typeface="Arial"/>
              </a:rPr>
              <a:t>Инфраструктура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фундамент — нужна первой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175504"/>
            <a:ext cx="46177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on-premise / частный контур · LLM внутри периметра · вычисления · коннекторы к данным · ИБ и маскирование</a:t>
            </a:r>
          </a:p>
        </p:txBody>
      </p:sp>
      <p:sp>
        <p:nvSpPr>
          <p:cNvPr id="33" name="Up Arrow 32"/>
          <p:cNvSpPr/>
          <p:nvPr/>
        </p:nvSpPr>
        <p:spPr>
          <a:xfrm>
            <a:off x="4695444" y="5029200"/>
            <a:ext cx="256032" cy="128016"/>
          </a:xfrm>
          <a:prstGeom prst="up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Up Arrow 33"/>
          <p:cNvSpPr/>
          <p:nvPr/>
        </p:nvSpPr>
        <p:spPr>
          <a:xfrm>
            <a:off x="4695444" y="3931920"/>
            <a:ext cx="256032" cy="128016"/>
          </a:xfrm>
          <a:prstGeom prst="up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Up Arrow 34"/>
          <p:cNvSpPr/>
          <p:nvPr/>
        </p:nvSpPr>
        <p:spPr>
          <a:xfrm>
            <a:off x="4695444" y="2834640"/>
            <a:ext cx="256032" cy="128016"/>
          </a:xfrm>
          <a:prstGeom prst="up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81160" y="1371600"/>
            <a:ext cx="2359152" cy="5614416"/>
          </a:xfrm>
          <a:prstGeom prst="roundRect">
            <a:avLst>
              <a:gd name="adj" fmla="val 4500"/>
            </a:avLst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1517904"/>
            <a:ext cx="2029968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E7203"/>
                </a:solidFill>
                <a:latin typeface="Arial"/>
              </a:rPr>
              <a:t>ИНТЕРФЕЙС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E7203"/>
                </a:solidFill>
                <a:latin typeface="Arial"/>
              </a:rPr>
              <a:t>УПРАВЛЕНИЯ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2286000"/>
            <a:ext cx="202996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CDD6"/>
                </a:solidFill>
                <a:latin typeface="Arial"/>
              </a:rPr>
              <a:t>Показать и управлять агентами внутри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3063240"/>
            <a:ext cx="2029968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 Дашборд всех агентов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 Запуск / пауза / настройка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 Просмотр результатов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 Логи и аудит решений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 Ручное вмешательство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3 ·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Промо-фабрика целиком внутри закрытого контура ДИКСИ, без выхода наружу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11475720" cy="4773168"/>
          </a:xfrm>
          <a:prstGeom prst="roundRect">
            <a:avLst>
              <a:gd name="adj" fmla="val 4500"/>
            </a:avLst>
          </a:prstGeom>
          <a:solidFill>
            <a:srgbClr val="FDF8F2"/>
          </a:solidFill>
          <a:ln w="22225">
            <a:solidFill>
              <a:srgbClr val="EE72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17320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E7203"/>
                </a:solidFill>
                <a:latin typeface="Arial"/>
              </a:rPr>
              <a:t>КОНТУР ДИКСИ — внешний egress запрещён · LLM внутри периметра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16352" y="3611880"/>
            <a:ext cx="182880" cy="420624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327648" y="3611880"/>
            <a:ext cx="182880" cy="420624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308592" y="3611880"/>
            <a:ext cx="182880" cy="420624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865376"/>
            <a:ext cx="2286000" cy="384048"/>
          </a:xfrm>
          <a:prstGeom prst="roundRect">
            <a:avLst>
              <a:gd name="adj" fmla="val 4500"/>
            </a:avLst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65376"/>
            <a:ext cx="22860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2322576"/>
            <a:ext cx="2286000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ВНУТРЕННИЕ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60320"/>
            <a:ext cx="2286000" cy="5669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560320"/>
            <a:ext cx="64008" cy="566928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2587751"/>
            <a:ext cx="2084831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DWH</a:t>
            </a:r>
            <a:r>
              <a:rPr sz="1050" b="0">
                <a:solidFill>
                  <a:srgbClr val="5B616E"/>
                </a:solidFill>
                <a:latin typeface="Arial"/>
              </a:rPr>
              <a:t>  — транзакции, чеки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82112"/>
            <a:ext cx="2286000" cy="6035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182112"/>
            <a:ext cx="64008" cy="603504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209544"/>
            <a:ext cx="2084831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MCI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сегментация клиентов, аналитика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858768"/>
            <a:ext cx="2286000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ДЛЯ ОБУЧЕНИЯ КОНТЕНТА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96512"/>
            <a:ext cx="2286000" cy="5120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96512"/>
            <a:ext cx="64008" cy="512064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123944"/>
            <a:ext cx="2084831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Голос бренда и правила текстов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663440"/>
            <a:ext cx="2286000" cy="5120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663440"/>
            <a:ext cx="64008" cy="512064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4690872"/>
            <a:ext cx="2084831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Механики акций и выгода клиента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72384" y="1865376"/>
            <a:ext cx="3200400" cy="384048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72384" y="1865376"/>
            <a:ext cx="3200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ПРОМО-ФАБРИКА · ON-PREMISE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72384" y="2359152"/>
            <a:ext cx="3200400" cy="548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72384" y="2359152"/>
            <a:ext cx="64008" cy="548640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18688" y="2386584"/>
            <a:ext cx="2999232" cy="4937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LLM внутри периметра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72384" y="2980944"/>
            <a:ext cx="3200400" cy="6035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72384" y="2980944"/>
            <a:ext cx="64008" cy="60350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18688" y="3008376"/>
            <a:ext cx="2999232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Стратегия акций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идеи · прогноз · выбор · механика · сегмент · план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72384" y="3657600"/>
            <a:ext cx="3200400" cy="4754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72384" y="3657600"/>
            <a:ext cx="64008" cy="47548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18688" y="3685032"/>
            <a:ext cx="2999232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E1E2F"/>
                </a:solidFill>
                <a:latin typeface="Arial"/>
              </a:rPr>
              <a:t>Коммуникации: тексты пуш · купон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72384" y="4206240"/>
            <a:ext cx="3200400" cy="4754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72384" y="4206240"/>
            <a:ext cx="64008" cy="47548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8688" y="4233672"/>
            <a:ext cx="2999232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Оптимизатор эффективности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72384" y="4754879"/>
            <a:ext cx="3200400" cy="4754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72384" y="4754879"/>
            <a:ext cx="64008" cy="47548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18688" y="4782312"/>
            <a:ext cx="2999232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Оркестратор кампаний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65392" y="1865376"/>
            <a:ext cx="2670048" cy="384048"/>
          </a:xfrm>
          <a:prstGeom prst="roundRect">
            <a:avLst>
              <a:gd name="adj" fmla="val 4500"/>
            </a:avLst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65392" y="1865376"/>
            <a:ext cx="2670048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ЗАВЕДЕНИЕ · MANZANA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65392" y="2359152"/>
            <a:ext cx="2670048" cy="53035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65392" y="2359152"/>
            <a:ext cx="64008" cy="530352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11696" y="2386584"/>
            <a:ext cx="2468879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E1E2F"/>
                </a:solidFill>
                <a:latin typeface="Arial"/>
              </a:rPr>
              <a:t>Агент завода акций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7754112" y="2944368"/>
            <a:ext cx="292608" cy="164592"/>
          </a:xfrm>
          <a:prstGeom prst="downArrow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565392" y="3163824"/>
            <a:ext cx="2670048" cy="53035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65392" y="3163824"/>
            <a:ext cx="64008" cy="530352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11696" y="3191256"/>
            <a:ext cx="2468879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C4AB6"/>
                </a:solidFill>
                <a:latin typeface="Arial"/>
              </a:rPr>
              <a:t>Manzana Processing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акции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65392" y="3822191"/>
            <a:ext cx="2670048" cy="53035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65392" y="3822191"/>
            <a:ext cx="64008" cy="530352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11696" y="3849624"/>
            <a:ext cx="2468879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E1E2F"/>
                </a:solidFill>
                <a:latin typeface="Arial"/>
              </a:rPr>
              <a:t>Агент завода коммуникаций</a:t>
            </a:r>
          </a:p>
        </p:txBody>
      </p:sp>
      <p:sp>
        <p:nvSpPr>
          <p:cNvPr id="57" name="Down Arrow 56"/>
          <p:cNvSpPr/>
          <p:nvPr/>
        </p:nvSpPr>
        <p:spPr>
          <a:xfrm>
            <a:off x="7754112" y="4407407"/>
            <a:ext cx="292608" cy="164592"/>
          </a:xfrm>
          <a:prstGeom prst="downArrow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565392" y="4626864"/>
            <a:ext cx="2670048" cy="53035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65392" y="4626864"/>
            <a:ext cx="64008" cy="530352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11696" y="4654296"/>
            <a:ext cx="2468879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C4AB6"/>
                </a:solidFill>
                <a:latin typeface="Arial"/>
              </a:rPr>
              <a:t>Manzana Campaign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сообщения + slip-чеки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28048" y="1865376"/>
            <a:ext cx="2157984" cy="384048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28048" y="1865376"/>
            <a:ext cx="2157984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ЗАПУСК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28048" y="2359152"/>
            <a:ext cx="2157984" cy="5120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528048" y="2359152"/>
            <a:ext cx="64008" cy="51206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74352" y="2386584"/>
            <a:ext cx="195681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E1E2F"/>
                </a:solidFill>
                <a:latin typeface="Arial"/>
              </a:rPr>
              <a:t>Модератор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авто-проверка</a:t>
            </a:r>
          </a:p>
        </p:txBody>
      </p:sp>
      <p:sp>
        <p:nvSpPr>
          <p:cNvPr id="66" name="Down Arrow 65"/>
          <p:cNvSpPr/>
          <p:nvPr/>
        </p:nvSpPr>
        <p:spPr>
          <a:xfrm>
            <a:off x="10479024" y="2944368"/>
            <a:ext cx="256032" cy="146304"/>
          </a:xfrm>
          <a:prstGeom prst="downArrow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528048" y="3145536"/>
            <a:ext cx="2157984" cy="4754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28048" y="3145536"/>
            <a:ext cx="64008" cy="47548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74352" y="3172968"/>
            <a:ext cx="1956815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E1E2F"/>
                </a:solidFill>
                <a:latin typeface="Arial"/>
              </a:rPr>
              <a:t>Ревью человеком</a:t>
            </a:r>
          </a:p>
        </p:txBody>
      </p:sp>
      <p:sp>
        <p:nvSpPr>
          <p:cNvPr id="70" name="Down Arrow 69"/>
          <p:cNvSpPr/>
          <p:nvPr/>
        </p:nvSpPr>
        <p:spPr>
          <a:xfrm>
            <a:off x="10479024" y="3694176"/>
            <a:ext cx="256032" cy="146304"/>
          </a:xfrm>
          <a:prstGeom prst="downArrow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528048" y="3895344"/>
            <a:ext cx="2157984" cy="4754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528048" y="3895344"/>
            <a:ext cx="64008" cy="47548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74352" y="3922776"/>
            <a:ext cx="1956815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E9E5B"/>
                </a:solidFill>
                <a:latin typeface="Arial"/>
              </a:rPr>
              <a:t>Старт акции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528048" y="4443983"/>
            <a:ext cx="2157984" cy="457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28048" y="4443983"/>
            <a:ext cx="64008" cy="4572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74352" y="4471416"/>
            <a:ext cx="1956815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Каналы: PUSH · slip → Клиент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072384" y="5669280"/>
            <a:ext cx="8375904" cy="329184"/>
          </a:xfrm>
          <a:prstGeom prst="roundRect">
            <a:avLst>
              <a:gd name="adj" fmla="val 4500"/>
            </a:avLst>
          </a:prstGeom>
          <a:solidFill>
            <a:srgbClr val="EFF6F0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072384" y="5669280"/>
            <a:ext cx="8375904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9E5B"/>
                </a:solidFill>
                <a:latin typeface="Arial"/>
              </a:rPr>
              <a:t>Обратная связь: факт отклика  →  Оптимизатор пересчитывает эффективность акций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4 · ЖИЗНЕННЫЙ ЦИКЛ АКЦИИ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Жизненный цикл акции: 9 этапов — от идеи до постанализа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64008" cy="1600200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56231"/>
            <a:ext cx="1810512" cy="1545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EE7203"/>
                </a:solidFill>
                <a:latin typeface="Arial"/>
              </a:rPr>
              <a:t>1   </a:t>
            </a:r>
            <a:r>
              <a:rPr sz="1300" b="1">
                <a:solidFill>
                  <a:srgbClr val="1E1E2F"/>
                </a:solidFill>
                <a:latin typeface="Arial"/>
              </a:rPr>
              <a:t>Идея акции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генерация акций-кандидатов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78608" y="2446020"/>
            <a:ext cx="228600" cy="365760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25496" y="1828800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25496" y="1828800"/>
            <a:ext cx="64008" cy="1600200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856231"/>
            <a:ext cx="1810512" cy="1545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EE7203"/>
                </a:solidFill>
                <a:latin typeface="Arial"/>
              </a:rPr>
              <a:t>2   </a:t>
            </a:r>
            <a:r>
              <a:rPr sz="1300" b="1">
                <a:solidFill>
                  <a:srgbClr val="1E1E2F"/>
                </a:solidFill>
                <a:latin typeface="Arial"/>
              </a:rPr>
              <a:t>Прогноз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uplift и отклик по кандидатам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55464" y="2446020"/>
            <a:ext cx="228600" cy="365760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02352" y="1828800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2352" y="1828800"/>
            <a:ext cx="64008" cy="1600200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8656" y="1856231"/>
            <a:ext cx="1810512" cy="1545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EE7203"/>
                </a:solidFill>
                <a:latin typeface="Arial"/>
              </a:rPr>
              <a:t>3   </a:t>
            </a:r>
            <a:r>
              <a:rPr sz="1300" b="1">
                <a:solidFill>
                  <a:srgbClr val="1E1E2F"/>
                </a:solidFill>
                <a:latin typeface="Arial"/>
              </a:rPr>
              <a:t>Выбор предложения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отбор лучших акций по прогнозу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32320" y="2446020"/>
            <a:ext cx="228600" cy="365760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79208" y="1828800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79208" y="1828800"/>
            <a:ext cx="64008" cy="160020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2" y="1856231"/>
            <a:ext cx="1810512" cy="1545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6C4AB6"/>
                </a:solidFill>
                <a:latin typeface="Arial"/>
              </a:rPr>
              <a:t>4   </a:t>
            </a:r>
            <a:r>
              <a:rPr sz="1300" b="1">
                <a:solidFill>
                  <a:srgbClr val="1E1E2F"/>
                </a:solidFill>
                <a:latin typeface="Arial"/>
              </a:rPr>
              <a:t>Механика + экономика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механика, юнит-экономика, маржа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09176" y="2446020"/>
            <a:ext cx="228600" cy="365760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56064" y="1828800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56064" y="1828800"/>
            <a:ext cx="64008" cy="160020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2368" y="1856231"/>
            <a:ext cx="1810512" cy="1545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6C4AB6"/>
                </a:solidFill>
                <a:latin typeface="Arial"/>
              </a:rPr>
              <a:t>5   </a:t>
            </a:r>
            <a:r>
              <a:rPr sz="1300" b="1">
                <a:solidFill>
                  <a:srgbClr val="1E1E2F"/>
                </a:solidFill>
                <a:latin typeface="Arial"/>
              </a:rPr>
              <a:t>Сегмент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узкий подсегмент под акцию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479024" y="3474720"/>
            <a:ext cx="365760" cy="292608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674723" y="3977639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74723" y="3977639"/>
            <a:ext cx="64008" cy="1600200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1027" y="4005072"/>
            <a:ext cx="1810512" cy="1545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6C4AB6"/>
                </a:solidFill>
                <a:latin typeface="Arial"/>
              </a:rPr>
              <a:t>6   </a:t>
            </a:r>
            <a:r>
              <a:rPr sz="1300" b="1">
                <a:solidFill>
                  <a:srgbClr val="1E1E2F"/>
                </a:solidFill>
                <a:latin typeface="Arial"/>
              </a:rPr>
              <a:t>План / сетка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календарь, частоты, анти-конфликт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704691" y="4594859"/>
            <a:ext cx="228600" cy="365760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951579" y="3977639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51579" y="3977639"/>
            <a:ext cx="64008" cy="16002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97883" y="4005072"/>
            <a:ext cx="1810512" cy="1545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2E9E5B"/>
                </a:solidFill>
                <a:latin typeface="Arial"/>
              </a:rPr>
              <a:t>7   </a:t>
            </a:r>
            <a:r>
              <a:rPr sz="1300" b="1">
                <a:solidFill>
                  <a:srgbClr val="1E1E2F"/>
                </a:solidFill>
                <a:latin typeface="Arial"/>
              </a:rPr>
              <a:t>Заведение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Manzana Processing + Campaign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981547" y="4594859"/>
            <a:ext cx="228600" cy="365760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28435" y="3977639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28435" y="3977639"/>
            <a:ext cx="64008" cy="16002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4739" y="4005072"/>
            <a:ext cx="1810512" cy="1545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2E9E5B"/>
                </a:solidFill>
                <a:latin typeface="Arial"/>
              </a:rPr>
              <a:t>8   </a:t>
            </a:r>
            <a:r>
              <a:rPr sz="1300" b="1">
                <a:solidFill>
                  <a:srgbClr val="1E1E2F"/>
                </a:solidFill>
                <a:latin typeface="Arial"/>
              </a:rPr>
              <a:t>Коммуникации и запуск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тексты · ревью · старт акции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258403" y="4594859"/>
            <a:ext cx="228600" cy="365760"/>
          </a:xfrm>
          <a:prstGeom prst="rightArrow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05291" y="3977639"/>
            <a:ext cx="201168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5291" y="3977639"/>
            <a:ext cx="64008" cy="1600200"/>
          </a:xfrm>
          <a:prstGeom prst="rect">
            <a:avLst/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51595" y="4005072"/>
            <a:ext cx="1810512" cy="1545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1E1E2F"/>
                </a:solidFill>
                <a:latin typeface="Arial"/>
              </a:rPr>
              <a:t>9   </a:t>
            </a:r>
            <a:r>
              <a:rPr sz="1300" b="1">
                <a:solidFill>
                  <a:srgbClr val="1E1E2F"/>
                </a:solidFill>
                <a:latin typeface="Arial"/>
              </a:rPr>
              <a:t>Постанализ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факт vs прогноз → будущие прогнозы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5 · АГЕНТЫ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Команда агентов на весь цикл акции — от идеи до постанализа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550920" cy="457200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3550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СТРАТЕГИЯ И ПЛАНИРОВАНИЕ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02536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02536"/>
            <a:ext cx="64008" cy="7680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029967"/>
            <a:ext cx="3349752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Генератор идей акций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оффер, повод, категория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43784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843784"/>
            <a:ext cx="64008" cy="7680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871215"/>
            <a:ext cx="3349752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Архитектор механики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механика, юнит-экономика, маржа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85032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85032"/>
            <a:ext cx="64008" cy="7680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712464"/>
            <a:ext cx="3349752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Сегментатор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узкие подсегменты под акцию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26280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64008" cy="7680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553712"/>
            <a:ext cx="3349752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Прогнозист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uplift, отклик, прирост ТО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67528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367528"/>
            <a:ext cx="64008" cy="7680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5394960"/>
            <a:ext cx="3349752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Планировщик сетки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календарь, анти-конфликт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9015" y="1417320"/>
            <a:ext cx="3550920" cy="457200"/>
          </a:xfrm>
          <a:prstGeom prst="roundRect">
            <a:avLst>
              <a:gd name="adj" fmla="val 4500"/>
            </a:avLst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9015" y="1417320"/>
            <a:ext cx="3550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ЗАВЕДЕНИЕ И КОММУНИКАЦИИ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9015" y="2002536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19015" y="2002536"/>
            <a:ext cx="64008" cy="76809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5320" y="2029967"/>
            <a:ext cx="3349752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Агент завода акций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акции → Manzana Processing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9015" y="2843784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9015" y="2843784"/>
            <a:ext cx="64008" cy="76809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5320" y="2871215"/>
            <a:ext cx="3349752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Агент завода коммуникаций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сообщения + slip-чеки → Campaign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9015" y="3685032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9015" y="3685032"/>
            <a:ext cx="64008" cy="76809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5320" y="3712464"/>
            <a:ext cx="3349752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Копирайт-агенты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заголовок · текст · голос бренда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19015" y="4526280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19015" y="4526280"/>
            <a:ext cx="64008" cy="76809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65320" y="4553712"/>
            <a:ext cx="3349752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Форматы и привязка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deeplink · купон · e-mail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9391" y="1417320"/>
            <a:ext cx="3550920" cy="457200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89391" y="1417320"/>
            <a:ext cx="3550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УПРАВЛЕНИЕ И ОПТИМИЗАЦИЯ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9391" y="2002536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9391" y="2002536"/>
            <a:ext cx="64008" cy="7680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35695" y="2029967"/>
            <a:ext cx="3349752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Оркестратор кампаний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дирижирует всем конвейером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89391" y="2843784"/>
            <a:ext cx="3550920" cy="7680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89391" y="2843784"/>
            <a:ext cx="64008" cy="7680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35695" y="2871215"/>
            <a:ext cx="3349752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Оптимизатор эффективности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факт → переранжирование, дообучение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6 · АГЕНТЫ: ПРИОРИТЕТЫ, ОБУЧЕНИЕ, 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P0 — конвейер для пилота; P1 — масштаб и оптимизация; P2 — расширение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1672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1880"/>
                <a:gridCol w="896112"/>
                <a:gridCol w="3200400"/>
                <a:gridCol w="3383280"/>
              </a:tblGrid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Агент</a:t>
                      </a:r>
                    </a:p>
                  </a:txBody>
                  <a:tcPr marL="82296" marR="54864" marT="18288" marB="18288" anchor="ctr">
                    <a:solidFill>
                      <a:srgbClr val="1E1E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Приор.</a:t>
                      </a:r>
                    </a:p>
                  </a:txBody>
                  <a:tcPr marL="82296" marR="54864" marT="18288" marB="18288" anchor="ctr">
                    <a:solidFill>
                      <a:srgbClr val="1E1E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Как обучаем</a:t>
                      </a:r>
                    </a:p>
                  </a:txBody>
                  <a:tcPr marL="82296" marR="54864" marT="18288" marB="18288" anchor="ctr">
                    <a:solidFill>
                      <a:srgbClr val="1E1E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Контекст / данные</a:t>
                      </a:r>
                    </a:p>
                  </a:txBody>
                  <a:tcPr marL="82296" marR="54864" marT="18288" marB="18288" anchor="ctr">
                    <a:solidFill>
                      <a:srgbClr val="1E1E2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Генератор идей акций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P0</a:t>
                      </a:r>
                    </a:p>
                  </a:txBody>
                  <a:tcPr marL="82296" marR="54864" marT="18288" marB="18288" anchor="ctr">
                    <a:solidFill>
                      <a:srgbClr val="EE720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Промпт + примеры удачных акций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Голос бренда, поводы, категории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Архитектор механики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P0</a:t>
                      </a:r>
                    </a:p>
                  </a:txBody>
                  <a:tcPr marL="82296" marR="54864" marT="18288" marB="18288" anchor="ctr">
                    <a:solidFill>
                      <a:srgbClr val="EE720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Правила + ML на марже и чеках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Юнит-экономика, ассортимент, бюджеты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Сегментатор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P0</a:t>
                      </a:r>
                    </a:p>
                  </a:txBody>
                  <a:tcPr marL="82296" marR="54864" marT="18288" marB="18288" anchor="ctr">
                    <a:solidFill>
                      <a:srgbClr val="EE720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ML-кластеризация + правила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MCI, чеки, история покупок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Прогнозист (uplift)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P0</a:t>
                      </a:r>
                    </a:p>
                  </a:txBody>
                  <a:tcPr marL="82296" marR="54864" marT="18288" marB="18288" anchor="ctr">
                    <a:solidFill>
                      <a:srgbClr val="EE720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ML на истории акций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Историч. акции, отклик, продажи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Копирайт (заголовок, текст, голос)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P0</a:t>
                      </a:r>
                    </a:p>
                  </a:txBody>
                  <a:tcPr marL="82296" marR="54864" marT="18288" marB="18288" anchor="ctr">
                    <a:solidFill>
                      <a:srgbClr val="EE720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Промпт + примеры + правила бренда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Голос бренда, лучшие тексты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Агент завода акций → Processing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P0</a:t>
                      </a:r>
                    </a:p>
                  </a:txBody>
                  <a:tcPr marL="82296" marR="54864" marT="18288" marB="18288" anchor="ctr">
                    <a:solidFill>
                      <a:srgbClr val="EE720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Промпт + схемы Manzana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Manzana Processing, правила завода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Планировщик сетки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 marL="82296" marR="54864" marT="18288" marB="18288" anchor="ctr">
                    <a:solidFill>
                      <a:srgbClr val="6C4A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Правила + оптимизация календаря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Календарь, частоты, анти-конфликт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Агент завода коммуникаций → Campaign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 marL="82296" marR="54864" marT="18288" marB="18288" anchor="ctr">
                    <a:solidFill>
                      <a:srgbClr val="6C4A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Промпт + схемы Manzana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Manzana Campaign, шаблоны slip-чеков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Оптимизатор эффективности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 marL="82296" marR="54864" marT="18288" marB="18288" anchor="ctr">
                    <a:solidFill>
                      <a:srgbClr val="6C4A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Переобучение по факту отклика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Факт vs прогноз, A/B, продажи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Модерация / комплаенс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 marL="82296" marR="54864" marT="18288" marB="18288" anchor="ctr">
                    <a:solidFill>
                      <a:srgbClr val="6C4A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Правила + классификаторы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ФЗ-38/152, табу, лимиты скидки</a:t>
                      </a: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E2F"/>
                          </a:solidFill>
                          <a:latin typeface="Arial"/>
                        </a:rPr>
                        <a:t>Форматы (купон, e-mail, deeplink)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P2</a:t>
                      </a:r>
                    </a:p>
                  </a:txBody>
                  <a:tcPr marL="82296" marR="54864" marT="18288" marB="18288" anchor="ctr">
                    <a:solidFill>
                      <a:srgbClr val="5B61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Промпт + примеры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B616E"/>
                          </a:solidFill>
                          <a:latin typeface="Arial"/>
                        </a:rPr>
                        <a:t>Шаблоны форматов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4500"/>
            </a:avLst>
          </a:prstGeom>
          <a:solidFill>
            <a:srgbClr val="EFF6F0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52160"/>
            <a:ext cx="106984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9E5B"/>
                </a:solidFill>
                <a:latin typeface="Arial"/>
              </a:rPr>
              <a:t>Контекст:  </a:t>
            </a:r>
            <a:r>
              <a:rPr sz="1100" b="0">
                <a:solidFill>
                  <a:srgbClr val="1E1E2F"/>
                </a:solidFill>
                <a:latin typeface="Arial"/>
              </a:rPr>
              <a:t>база знаний (голос бренда · правила коммуникаций · механики · ассортимент) + данные сегментов и чеков; факт отклика дообучает прогнозиста и оптимизатор.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7 · МОДЕРАЦИЯ И ПРОВЕРКИ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Каждая акция и текст проходят 7 гейтов — от безопасности до ревью человеком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266944" cy="10607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73152" cy="1060704"/>
          </a:xfrm>
          <a:prstGeom prst="rect">
            <a:avLst/>
          </a:prstGeom>
          <a:solidFill>
            <a:srgbClr val="5B6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536192"/>
            <a:ext cx="4974336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1   Гейт безопасности (до LLM)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883664"/>
            <a:ext cx="4937759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Маскирование персональных данных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Наружу — только обезличенные метаданные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70048"/>
            <a:ext cx="5266944" cy="13350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70048"/>
            <a:ext cx="73152" cy="13350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743200"/>
            <a:ext cx="4974336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2   Экономика акции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090672"/>
            <a:ext cx="4937759" cy="8778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Юнит-экономика и маржа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Бюджет и потолок скидки по категории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Прогноз отсекает слабые акции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51376"/>
            <a:ext cx="5266944" cy="13350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51376"/>
            <a:ext cx="73152" cy="13350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224528"/>
            <a:ext cx="4974336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3   Анти-галлюцинации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572000"/>
            <a:ext cx="4937759" cy="8778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Запрет выдуманных %, сроков, SKU, цен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Ссылки — только реальные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Нет данных → вопрос, не фантазия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632704"/>
            <a:ext cx="5266944" cy="13350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632704"/>
            <a:ext cx="73152" cy="13350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705856"/>
            <a:ext cx="4974336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4   Бренд и голос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6053328"/>
            <a:ext cx="4937759" cy="8778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Обращение «ты», лексика и запреты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«минус N%», без слова «скидка»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Заголовок не дублирует тело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3368" y="1463040"/>
            <a:ext cx="5266944" cy="13350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73368" y="1463040"/>
            <a:ext cx="73152" cy="133502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2824" y="1536192"/>
            <a:ext cx="4974336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5   Логика сетки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2824" y="1883664"/>
            <a:ext cx="4937759" cy="8778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Антидубль механики в одну неделю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Монеты — 1-я декада; частотные — Активные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Сегмент = реальная аудитория категории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3368" y="2944368"/>
            <a:ext cx="5266944" cy="13350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3368" y="2944368"/>
            <a:ext cx="73152" cy="133502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017520"/>
            <a:ext cx="4974336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6   Комплаенс и право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2824" y="3364991"/>
            <a:ext cx="4937759" cy="8778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ФЗ-38 «О рекламе», 152-ФЗ о перс. данных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Фильтр токсичности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Длина и санитайз полей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73368" y="4425696"/>
            <a:ext cx="5266944" cy="13350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73368" y="4425696"/>
            <a:ext cx="73152" cy="133502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2824" y="4498848"/>
            <a:ext cx="4974336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1E2F"/>
                </a:solidFill>
                <a:latin typeface="Arial"/>
              </a:rPr>
              <a:t>7   Ревью человеком + аудит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2824" y="4846320"/>
            <a:ext cx="4937759" cy="8778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Обязательное финальное ревью человеком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Аудит-лог: кто, когда, что утвердил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Версионирование правил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СЛАЙД 8 · ПЛАН ПО РЕЗУЛЬТАТУ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От закрытого пилота до +1,5 млрд ₽/год — через сегментацию всей базы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CVM · ИИ-конвейер запуска акций · ДИКСИ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91672" cy="640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70507" y="1481328"/>
            <a:ext cx="201168" cy="201168"/>
          </a:xfrm>
          <a:prstGeom prst="ellipse">
            <a:avLst/>
          </a:prstGeom>
          <a:solidFill>
            <a:srgbClr val="EE720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65376"/>
            <a:ext cx="2608326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865376"/>
            <a:ext cx="2608326" cy="841248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2516886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ЭТАП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12848"/>
            <a:ext cx="2516886" cy="4754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Закрытый пилот
на одном сегменте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16352"/>
            <a:ext cx="2388870" cy="969264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71216"/>
            <a:ext cx="2187702" cy="8778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Claude на сервере ДИКСИ, без выгрузки наружу: коннекторы генерации и скрипты к базе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95344"/>
            <a:ext cx="227914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E7203"/>
                </a:solidFill>
                <a:latin typeface="Arial"/>
              </a:rPr>
              <a:t>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187952"/>
            <a:ext cx="2279142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«Активные» → категорийные подсегменты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Первые акции: +20 ₽/клиента vs +3 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Потенциал +600 млн ₽/год</a:t>
            </a:r>
          </a:p>
        </p:txBody>
      </p:sp>
      <p:sp>
        <p:nvSpPr>
          <p:cNvPr id="17" name="Oval 16"/>
          <p:cNvSpPr/>
          <p:nvPr/>
        </p:nvSpPr>
        <p:spPr>
          <a:xfrm>
            <a:off x="4598289" y="1481328"/>
            <a:ext cx="201168" cy="201168"/>
          </a:xfrm>
          <a:prstGeom prst="ellipse">
            <a:avLst/>
          </a:prstGeom>
          <a:solidFill>
            <a:srgbClr val="6C4A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76422" y="1865376"/>
            <a:ext cx="2608326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76422" y="1865376"/>
            <a:ext cx="2608326" cy="841248"/>
          </a:xfrm>
          <a:prstGeom prst="roundRect">
            <a:avLst>
              <a:gd name="adj" fmla="val 4500"/>
            </a:avLst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2142" y="1938528"/>
            <a:ext cx="2516886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ЭТАП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2142" y="2212848"/>
            <a:ext cx="2516886" cy="4754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Вся база +
полная архитектура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86150" y="2816352"/>
            <a:ext cx="2388870" cy="969264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5878" y="2871216"/>
            <a:ext cx="2187702" cy="8778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Разворачиваем мультиагентную промо-фабрику и интеграцию с Manzana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7590" y="3895344"/>
            <a:ext cx="227914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4AB6"/>
                </a:solidFill>
                <a:latin typeface="Arial"/>
              </a:rPr>
              <a:t>РЕЗУЛЬТАТ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7590" y="4187952"/>
            <a:ext cx="2279142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Сегментация всей push-базы (2,6 млн)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Поток акций на каждый подсегмент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Результат: +600 млн ₽/год</a:t>
            </a:r>
          </a:p>
        </p:txBody>
      </p:sp>
      <p:sp>
        <p:nvSpPr>
          <p:cNvPr id="26" name="Oval 25"/>
          <p:cNvSpPr/>
          <p:nvPr/>
        </p:nvSpPr>
        <p:spPr>
          <a:xfrm>
            <a:off x="7426071" y="1481328"/>
            <a:ext cx="201168" cy="201168"/>
          </a:xfrm>
          <a:prstGeom prst="ellipse">
            <a:avLst/>
          </a:prstGeom>
          <a:solidFill>
            <a:srgbClr val="2E9E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04204" y="1865376"/>
            <a:ext cx="2608326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04204" y="1865376"/>
            <a:ext cx="2608326" cy="841248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9924" y="1938528"/>
            <a:ext cx="2516886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ЭТАП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9924" y="2212848"/>
            <a:ext cx="2516886" cy="4754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Оптимизация и
отбор лучших акций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13932" y="2816352"/>
            <a:ext cx="2388870" cy="969264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3660" y="2871216"/>
            <a:ext cx="2187702" cy="8778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Оптимизатор считает эффективность по факту и оставляет сильнейшие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5372" y="3895344"/>
            <a:ext cx="227914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9E5B"/>
                </a:solidFill>
                <a:latin typeface="Arial"/>
              </a:rPr>
              <a:t>РЕЗУЛЬТАТ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5372" y="4187952"/>
            <a:ext cx="2279142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Доля «в плюсе» 58% → 68% → выше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Бюджет — в эффективные акции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Результат: рост маржи и отдачи</a:t>
            </a:r>
          </a:p>
        </p:txBody>
      </p:sp>
      <p:sp>
        <p:nvSpPr>
          <p:cNvPr id="35" name="Oval 34"/>
          <p:cNvSpPr/>
          <p:nvPr/>
        </p:nvSpPr>
        <p:spPr>
          <a:xfrm>
            <a:off x="10253853" y="1481328"/>
            <a:ext cx="201168" cy="201168"/>
          </a:xfrm>
          <a:prstGeom prst="ellipse">
            <a:avLst/>
          </a:prstGeom>
          <a:solidFill>
            <a:srgbClr val="1E1E2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31986" y="1865376"/>
            <a:ext cx="2608326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31986" y="1865376"/>
            <a:ext cx="2608326" cy="841248"/>
          </a:xfrm>
          <a:prstGeom prst="roundRect">
            <a:avLst>
              <a:gd name="adj" fmla="val 4500"/>
            </a:avLst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77706" y="1938528"/>
            <a:ext cx="2516886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ЭТАП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7706" y="2212848"/>
            <a:ext cx="2516886" cy="4754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Глубокое деление
и масштаб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1713" y="2816352"/>
            <a:ext cx="2388870" cy="969264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1442" y="2871216"/>
            <a:ext cx="2187702" cy="8778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Работа с каждой узкой аудиторией, автономный конвейер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3154" y="3895344"/>
            <a:ext cx="227914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1E2F"/>
                </a:solidFill>
                <a:latin typeface="Arial"/>
              </a:rPr>
              <a:t>РЕЗУЛЬТАТ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3154" y="4187952"/>
            <a:ext cx="2279142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До +50 ₽/клиента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~200 акций/мес, самообучение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•  Результат: до +1,5 млрд ₽/год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16E"/>
                </a:solidFill>
                <a:latin typeface="Arial"/>
              </a:rPr>
              <a:t>Цифры эффекта — слайд «Эффективность сегментных акций», CVM окт.2025–май.2026.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