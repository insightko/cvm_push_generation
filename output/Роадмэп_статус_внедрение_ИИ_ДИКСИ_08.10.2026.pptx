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СТАТУС НА 08.10.2026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Пилот застрял на загрузке маркетинговых списков в Campaign — реализуем обходной путь: отправка через портал в Firebase и агент-загрузчик списков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08.10.2026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262432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2624328" cy="822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44751"/>
            <a:ext cx="2350008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9E5B"/>
                </a:solidFill>
                <a:latin typeface="Arial"/>
              </a:rPr>
              <a:t>ЭТАП 1 · ДЦО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00784"/>
            <a:ext cx="2350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6 из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75688"/>
            <a:ext cx="2350008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задач этапа закрыто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298448"/>
            <a:ext cx="262432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298448"/>
            <a:ext cx="2624328" cy="8229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444751"/>
            <a:ext cx="2350008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C4AB6"/>
                </a:solidFill>
                <a:latin typeface="Arial"/>
              </a:rPr>
              <a:t>ЭТАП 2 · CVM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700784"/>
            <a:ext cx="2350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В работе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075688"/>
            <a:ext cx="2350008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по пожеланиям клиента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ускорились по CVM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298448"/>
            <a:ext cx="262432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298448"/>
            <a:ext cx="2624328" cy="82296"/>
          </a:xfrm>
          <a:prstGeom prst="rect">
            <a:avLst/>
          </a:prstGeom>
          <a:solidFill>
            <a:srgbClr val="D1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444751"/>
            <a:ext cx="2350008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14343"/>
                </a:solidFill>
                <a:latin typeface="Arial"/>
              </a:rPr>
              <a:t>ПИЛОТ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700784"/>
            <a:ext cx="2350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Застряли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075688"/>
            <a:ext cx="2350008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на загрузке маркетинговых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списков в Campaign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1298448"/>
            <a:ext cx="2624328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5128" y="1298448"/>
            <a:ext cx="2624328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444751"/>
            <a:ext cx="2350008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E7203"/>
                </a:solidFill>
                <a:latin typeface="Arial"/>
              </a:rPr>
              <a:t>ОБХОДНОЙ ПУТЬ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700784"/>
            <a:ext cx="235000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В работе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075688"/>
            <a:ext cx="2350008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1 · портал → Firebase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16E"/>
                </a:solidFill>
                <a:latin typeface="Arial"/>
              </a:rPr>
              <a:t>2 · агент сам загружает списки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ЧЕТЫРЕ ЭТАПА · АВГУСТ 2026 — МАРТ 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054096"/>
            <a:ext cx="2610612" cy="1463040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054096"/>
            <a:ext cx="2610612" cy="6400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182112"/>
            <a:ext cx="23180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1 · авг–окт 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419856"/>
            <a:ext cx="23545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Персонализация ДЦО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3767328"/>
            <a:ext cx="23545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Сервис, данные, MCI, КГ,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движок текстов, контент ДЦО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206240"/>
            <a:ext cx="23180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670 ч · </a:t>
            </a:r>
            <a:r>
              <a:rPr sz="1150" b="1">
                <a:solidFill>
                  <a:srgbClr val="2E9E5B"/>
                </a:solidFill>
                <a:latin typeface="Arial"/>
              </a:rPr>
              <a:t>Этап в работе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200400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78708" y="3054096"/>
            <a:ext cx="26106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78708" y="3054096"/>
            <a:ext cx="2610612" cy="640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3300" y="3182112"/>
            <a:ext cx="23180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2 · ноя 26 – янв 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5012" y="3419856"/>
            <a:ext cx="23545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CVM: 100 сегментов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5012" y="3767328"/>
            <a:ext cx="23545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100 сегментов, конвейер контента,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интерфейс, агенты, дашборды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3300" y="4206240"/>
            <a:ext cx="23180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1 202 ч · </a:t>
            </a:r>
            <a:r>
              <a:rPr sz="1150" b="1">
                <a:solidFill>
                  <a:srgbClr val="EE7203"/>
                </a:solidFill>
                <a:latin typeface="Arial"/>
              </a:rPr>
              <a:t>В работе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030468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08775" y="3054096"/>
            <a:ext cx="26106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8775" y="3054096"/>
            <a:ext cx="2610612" cy="64008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7" y="3182112"/>
            <a:ext cx="23180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3 · фев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79" y="3419856"/>
            <a:ext cx="23545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Масштаб 200 акций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9" y="3767328"/>
            <a:ext cx="23545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Оптимизатор, 200 акций,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передача сервиса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7" y="4206240"/>
            <a:ext cx="23180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310 ч · </a:t>
            </a:r>
            <a:r>
              <a:rPr sz="1150" b="1">
                <a:solidFill>
                  <a:srgbClr val="B9BFCA"/>
                </a:solidFill>
                <a:latin typeface="Arial"/>
              </a:rPr>
              <a:t>План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860536" y="3657600"/>
            <a:ext cx="137160" cy="274320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38844" y="3054096"/>
            <a:ext cx="2610612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8844" y="3054096"/>
            <a:ext cx="2610612" cy="64008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3436" y="3182112"/>
            <a:ext cx="23180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616E"/>
                </a:solidFill>
                <a:latin typeface="Arial"/>
              </a:rPr>
              <a:t>ЭТАП 4 · мар 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5148" y="3419856"/>
            <a:ext cx="23545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Дообучение на откликах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5148" y="3767328"/>
            <a:ext cx="23545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Витрина откликов, дообучение,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стоп-листы, итоги пилота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03436" y="4206240"/>
            <a:ext cx="2318004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616E"/>
                </a:solidFill>
                <a:latin typeface="Arial"/>
              </a:rPr>
              <a:t>299 ч · </a:t>
            </a:r>
            <a:r>
              <a:rPr sz="1150" b="1">
                <a:solidFill>
                  <a:srgbClr val="B9BFCA"/>
                </a:solidFill>
                <a:latin typeface="Arial"/>
              </a:rPr>
              <a:t>План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4754880"/>
            <a:ext cx="11100816" cy="1517904"/>
          </a:xfrm>
          <a:prstGeom prst="roundRect">
            <a:avLst>
              <a:gd name="adj" fmla="val 4500"/>
            </a:avLst>
          </a:prstGeom>
          <a:solidFill>
            <a:srgbClr val="FDF8F2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828032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ДОП. ТОВАРООБОРОТ, млн ₽/мес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4882896"/>
            <a:ext cx="201168" cy="12801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56632" y="4809744"/>
            <a:ext cx="685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ДЦО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33288" y="4882896"/>
            <a:ext cx="201168" cy="128016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4809744"/>
            <a:ext cx="6858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CVM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5913026"/>
            <a:ext cx="731520" cy="48861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" y="5684426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" y="598932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сент.26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09928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709928" y="5707810"/>
            <a:ext cx="731520" cy="122152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81912" y="5497498"/>
            <a:ext cx="987552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E7203"/>
                </a:solidFill>
                <a:latin typeface="Arial"/>
              </a:rPr>
              <a:t>54</a:t>
            </a:r>
            <a:r>
              <a:rPr sz="1050" b="0">
                <a:solidFill>
                  <a:srgbClr val="5B616E"/>
                </a:solidFill>
                <a:latin typeface="Arial"/>
              </a:rPr>
              <a:t> + </a:t>
            </a:r>
            <a:r>
              <a:rPr sz="1050" b="1">
                <a:solidFill>
                  <a:srgbClr val="6C4AB6"/>
                </a:solidFill>
                <a:latin typeface="Arial"/>
              </a:rPr>
              <a:t>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81912" y="529633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104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81912" y="598932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окт.26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42616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42616" y="5321807"/>
            <a:ext cx="731520" cy="50815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42616" y="5829963"/>
            <a:ext cx="731520" cy="1319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42616" y="5321807"/>
            <a:ext cx="731520" cy="50815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208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14600" y="5093207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262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14600" y="598932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ноя.26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75304" y="5878824"/>
            <a:ext cx="731520" cy="83063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575304" y="5370669"/>
            <a:ext cx="731520" cy="50815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75304" y="5878824"/>
            <a:ext cx="731520" cy="83063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75304" y="5370669"/>
            <a:ext cx="731520" cy="50815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208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47288" y="5142069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242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47288" y="598932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дек.26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07992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07992" y="5585657"/>
            <a:ext cx="731520" cy="244305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07992" y="5829963"/>
            <a:ext cx="731520" cy="1319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07992" y="5585657"/>
            <a:ext cx="731520" cy="24430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79976" y="5357057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154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79976" y="598932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янв.27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40679" y="5829963"/>
            <a:ext cx="731520" cy="13192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440679" y="5463505"/>
            <a:ext cx="731520" cy="36645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40679" y="5829963"/>
            <a:ext cx="731520" cy="1319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40679" y="5463505"/>
            <a:ext cx="731520" cy="36645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150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12664" y="5234905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1E2F"/>
                </a:solidFill>
                <a:latin typeface="Arial"/>
              </a:rPr>
              <a:t>204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12664" y="5989320"/>
            <a:ext cx="98755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16E"/>
                </a:solidFill>
                <a:latin typeface="Arial"/>
              </a:rPr>
              <a:t>фев.27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37960" y="4901184"/>
            <a:ext cx="5074920" cy="1325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ДЦО за период — 243 млн ₽,  CVM — 1 110 млн 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1E2F"/>
                </a:solidFill>
                <a:latin typeface="Arial"/>
              </a:rPr>
              <a:t>Совокупно за 6 месяцев ~1,35 млрд 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C4AB6"/>
                </a:solidFill>
                <a:latin typeface="Arial"/>
              </a:rPr>
              <a:t>По пожеланиям клиента оптимизировали и ускорились по CVM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C4AB6"/>
                </a:solidFill>
                <a:latin typeface="Arial"/>
              </a:rPr>
              <a:t>CVM: +20 млн ₽ в сентябре, +50 млн ₽ в октябре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ПИЛОТ · ЗАГРУЗКА СПИСКОВ В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Обходной путь в двух направлениях: прямая отправка push через портал в Firebase и агент, который сам перекладывает и загружает списки в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08.10.2026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2148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Штатный путь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891744" cy="237744"/>
          </a:xfrm>
          <a:prstGeom prst="roundRect">
            <a:avLst>
              <a:gd name="adj" fmla="val 4500"/>
            </a:avLst>
          </a:prstGeom>
          <a:solidFill>
            <a:srgbClr val="D1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891744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Застряли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517904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517904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616E"/>
                </a:solidFill>
                <a:latin typeface="Arial"/>
              </a:rPr>
              <a:t>MCI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маркетинговые списки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3208" y="1517904"/>
            <a:ext cx="4242816" cy="603504"/>
          </a:xfrm>
          <a:prstGeom prst="roundRect">
            <a:avLst>
              <a:gd name="adj" fmla="val 4500"/>
            </a:avLst>
          </a:prstGeom>
          <a:solidFill>
            <a:srgbClr val="FBECEC"/>
          </a:solidFill>
          <a:ln w="19050">
            <a:solidFill>
              <a:srgbClr val="D14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1517904"/>
            <a:ext cx="4133088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14343"/>
                </a:solidFill>
                <a:latin typeface="Arial"/>
              </a:rPr>
              <a:t>Загрузка списков в Campaign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00600" y="1709928"/>
            <a:ext cx="219456" cy="219456"/>
          </a:xfrm>
          <a:prstGeom prst="rightArrow">
            <a:avLst/>
          </a:prstGeom>
          <a:solidFill>
            <a:srgbClr val="C9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01784" y="1517904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1517904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B616E"/>
                </a:solidFill>
                <a:latin typeface="Arial"/>
              </a:rPr>
              <a:t>Push клиентам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приложение ДИКСИ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09176" y="1709928"/>
            <a:ext cx="219456" cy="219456"/>
          </a:xfrm>
          <a:prstGeom prst="rightArrow">
            <a:avLst/>
          </a:prstGeom>
          <a:solidFill>
            <a:srgbClr val="C9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194560"/>
            <a:ext cx="11100816" cy="7315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2148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Обходной путь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596896"/>
            <a:ext cx="856819" cy="237744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596896"/>
            <a:ext cx="856819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2267712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43784" y="2267712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MCI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маркетинговые списки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93208" y="2267712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6C4A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8072" y="2267712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C4AB6"/>
                </a:solidFill>
                <a:latin typeface="Arial"/>
              </a:rPr>
              <a:t>Портал CVM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списки, тексты, отправка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800600" y="2459736"/>
            <a:ext cx="219456" cy="219456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97496" y="2267712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6C4A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2267712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C4AB6"/>
                </a:solidFill>
                <a:latin typeface="Arial"/>
              </a:rPr>
              <a:t>Firebase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Cloud Messaging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04888" y="2459736"/>
            <a:ext cx="219456" cy="219456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01784" y="2267712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2267712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Push клиентам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приложение ДИКСИ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09176" y="2459736"/>
            <a:ext cx="219456" cy="219456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2944368"/>
            <a:ext cx="11100816" cy="7315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035808"/>
            <a:ext cx="2148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Обходной путь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346703"/>
            <a:ext cx="856819" cy="237744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346703"/>
            <a:ext cx="856819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3017520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3784" y="3017520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MCI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маркетинговые списки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93208" y="3017520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6C4A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8072" y="3017520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C4AB6"/>
                </a:solidFill>
                <a:latin typeface="Arial"/>
              </a:rPr>
              <a:t>Агент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перекладывает и загружает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800600" y="3209544"/>
            <a:ext cx="219456" cy="219456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97496" y="3017520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3017520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Campaign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загрузка списков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104888" y="3209544"/>
            <a:ext cx="219456" cy="219456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01784" y="3017520"/>
            <a:ext cx="1938528" cy="6035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56648" y="3017520"/>
            <a:ext cx="182880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1E2F"/>
                </a:solidFill>
                <a:latin typeface="Arial"/>
              </a:rPr>
              <a:t>Push клиентам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16E"/>
                </a:solidFill>
                <a:latin typeface="Arial"/>
              </a:rPr>
              <a:t>приложение ДИКСИ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409176" y="3209544"/>
            <a:ext cx="219456" cy="219456"/>
          </a:xfrm>
          <a:prstGeom prst="rightArrow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3840479"/>
            <a:ext cx="6492240" cy="24323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3840479"/>
            <a:ext cx="64008" cy="2432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" y="3950207"/>
            <a:ext cx="484632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1 · Портал CVM → Firebase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01180" y="3977639"/>
            <a:ext cx="856819" cy="237744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01180" y="3977639"/>
            <a:ext cx="856819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" y="4439412"/>
            <a:ext cx="100584" cy="10058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" y="4343399"/>
            <a:ext cx="5888736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Портал CVM отправляет маркетинговые push в приложение напрямую через Firebase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6384" y="4924044"/>
            <a:ext cx="100584" cy="10058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552" y="4828031"/>
            <a:ext cx="5888736" cy="2880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Списки, тексты, отправка и аналитика доставки — на нашей стороне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" y="5212080"/>
            <a:ext cx="100584" cy="10058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552" y="5116068"/>
            <a:ext cx="5888736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Транзакционные и сервисные push приложения канал не затрагивает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" y="5696712"/>
            <a:ext cx="100584" cy="10058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7552" y="5600700"/>
            <a:ext cx="5888736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От команды приложения нужны: доступ к отправке, токены устройств в MCI, статусы доставки, тестовые устройства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42047" y="3840479"/>
            <a:ext cx="4407408" cy="243230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42047" y="3840479"/>
            <a:ext cx="64008" cy="243230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61503" y="3950207"/>
            <a:ext cx="2761488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1E2F"/>
                </a:solidFill>
                <a:latin typeface="Arial"/>
              </a:rPr>
              <a:t>2 · Агент-загрузчик списков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609756" y="3977639"/>
            <a:ext cx="856819" cy="237744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09756" y="3977639"/>
            <a:ext cx="856819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79792" y="4439412"/>
            <a:ext cx="100584" cy="10058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59" y="4343399"/>
            <a:ext cx="3803904" cy="6812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Доучиваем агента, который сам перекладывает маркетинговые списки и загружает их в Campaign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5120640"/>
            <a:ext cx="100584" cy="100584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80959" y="5024627"/>
            <a:ext cx="3803904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Путь до клиента прежний: MCI → Campaign → push; меняется только загрузка списков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СТАТУС · 8 ОКТЯБРЯ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Сделано и в работе на 8 октября: пилот застрял на загрузке маркетинговых списков в Campaign, реализуем обходной путь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08.10.2026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3520440" cy="4937760"/>
          </a:xfrm>
          <a:prstGeom prst="roundRect">
            <a:avLst>
              <a:gd name="adj" fmla="val 4500"/>
            </a:avLst>
          </a:prstGeom>
          <a:solidFill>
            <a:srgbClr val="EFF6F0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16736"/>
            <a:ext cx="3520440" cy="38404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16736"/>
            <a:ext cx="324612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15668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19656"/>
            <a:ext cx="295351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Подготовка пилота: списки оптимизированы (2.8)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91156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295144"/>
            <a:ext cx="295351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Подготовка пилота: выделены основные сегменты для запуска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66644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770632"/>
            <a:ext cx="295351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Сервис развёрнут: доступы, безопасность, бэкапы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42132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246120"/>
            <a:ext cx="295351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Подключены данные ДЦО: клиенты, покупки, текущие акции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17620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21607"/>
            <a:ext cx="295351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Встроен модуль сегментации MCI + интерфейс выбора сегментов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93107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197095"/>
            <a:ext cx="295351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Настроены автоматические контрольные группы на базе MCI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68595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672583"/>
            <a:ext cx="295351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Описана методология «сегмент → оффер»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44083"/>
            <a:ext cx="109728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148071"/>
            <a:ext cx="2953512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ДЦО-акции переведены в персональный формат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1316736"/>
            <a:ext cx="4160520" cy="4937760"/>
          </a:xfrm>
          <a:prstGeom prst="roundRect">
            <a:avLst>
              <a:gd name="adj" fmla="val 4500"/>
            </a:avLst>
          </a:prstGeom>
          <a:solidFill>
            <a:srgbClr val="FDF1E4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0248" y="1316736"/>
            <a:ext cx="4160520" cy="3840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1316736"/>
            <a:ext cx="3886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53128" y="1915668"/>
            <a:ext cx="109728" cy="109728"/>
          </a:xfrm>
          <a:prstGeom prst="rect">
            <a:avLst/>
          </a:prstGeom>
          <a:solidFill>
            <a:srgbClr val="D14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2584" y="1819656"/>
            <a:ext cx="3593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14343"/>
                </a:solidFill>
                <a:latin typeface="Arial"/>
              </a:rPr>
              <a:t>Пилот: застряли на загрузке маркетинговых списков в Campaign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128" y="2391156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2584" y="2295144"/>
            <a:ext cx="3593591" cy="2880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Обходной путь 1: портал → Firebase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3128" y="2670048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2584" y="2574036"/>
            <a:ext cx="3593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Обходной путь 2: доучиваем агента, который сам загружает списки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53128" y="3145536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72584" y="3049524"/>
            <a:ext cx="3593591" cy="2880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Акции ДЦО на согласовании в КД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3128" y="3424428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3328416"/>
            <a:ext cx="3593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Движок персонализации текстов ДЦО под сегмент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53128" y="3899916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2584" y="3803904"/>
            <a:ext cx="3593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Агенты в обучении: копирайтер, редактор-гуманизатор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53128" y="4375404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2584" y="4279392"/>
            <a:ext cx="3593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 пожеланиям клиента ускорились по CVM: работы начаты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3128" y="4850892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2584" y="4754880"/>
            <a:ext cx="3593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База знаний: шаблоны, скиллы, гайдлайны, tone of voice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53128" y="5326380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72584" y="5230368"/>
            <a:ext cx="3593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Бизнес-процесс планирования и заведения ДЦО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3128" y="5801868"/>
            <a:ext cx="109728" cy="1097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72584" y="5705855"/>
            <a:ext cx="3593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Отдельные среды под агентов, шифрование данных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31936" y="1316736"/>
            <a:ext cx="3017520" cy="493776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31936" y="1316736"/>
            <a:ext cx="3017520" cy="38404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96528" y="1316736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СЛЕДУЮЩИЕ ШАГИ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14815" y="1915668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4272" y="1819656"/>
            <a:ext cx="2450591" cy="6812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Пилот: запуск через обходной путь и замер vs контрольные группы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14815" y="2587752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34272" y="2491740"/>
            <a:ext cx="2450591" cy="6812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Постэффекты пилота: отклик, доп. ТО, маржа по сегментам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14815" y="3259836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34272" y="3163824"/>
            <a:ext cx="2450591" cy="6812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Приёмка этапа 1, старт этапа 2 — 100 сегментов с ноября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14815" y="3931920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34272" y="3835907"/>
            <a:ext cx="2450591" cy="4846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Конвейер контента и интерфейс заведения акций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14815" y="4407407"/>
            <a:ext cx="109728" cy="109728"/>
          </a:xfrm>
          <a:prstGeom prst="rect">
            <a:avLst/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34272" y="4311395"/>
            <a:ext cx="2450591" cy="6812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1E2F"/>
                </a:solidFill>
                <a:latin typeface="Arial"/>
              </a:rPr>
              <a:t>Агенты: конструктор акций, оператор заведения, дизайнер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ЭТАП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Персонализация ДЦО: данные, сегментация и контент готовы; пилот застрял на загрузке списков в Campaign — реализуем обходной путь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08.10.2026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59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59" y="1554480"/>
            <a:ext cx="75323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авг.26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6797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6797" y="1554480"/>
            <a:ext cx="75323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сент.26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0033" y="1554480"/>
            <a:ext cx="75323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0033" y="1554480"/>
            <a:ext cx="75323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окт.26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3271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3271" y="1554480"/>
            <a:ext cx="75323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ноя.26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508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36508" y="1554480"/>
            <a:ext cx="75323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дек.26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89745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9745" y="1554480"/>
            <a:ext cx="75323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янв.27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2982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2982" y="1554480"/>
            <a:ext cx="75323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фев.27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96219" y="1554480"/>
            <a:ext cx="75323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96219" y="1554480"/>
            <a:ext cx="75323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мар.27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865376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148840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432304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715768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999232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282696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566160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849624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133087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416552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700016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983480"/>
            <a:ext cx="11100816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266944"/>
            <a:ext cx="11100816" cy="2834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23559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6797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0033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83271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36508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89745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42982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96219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649456" y="1865376"/>
            <a:ext cx="7315" cy="368503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00119" y="1554480"/>
            <a:ext cx="20116" cy="399592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1751" y="1298448"/>
            <a:ext cx="1316736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E7203"/>
                </a:solidFill>
                <a:latin typeface="Arial"/>
              </a:rPr>
              <a:t>08.10 · 41 неделя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3847" y="5614416"/>
            <a:ext cx="251079" cy="137160"/>
          </a:xfrm>
          <a:prstGeom prst="roundRect">
            <a:avLst>
              <a:gd name="adj" fmla="val 4500"/>
            </a:avLst>
          </a:prstGeom>
          <a:solidFill>
            <a:srgbClr val="6C4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96366" y="5568696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C4AB6"/>
                </a:solidFill>
                <a:latin typeface="Arial"/>
              </a:rPr>
              <a:t>Пилот — план был 20–30 сентября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1865376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Развёртывание сервиса: доступы, безопасность, бэкапы</a:t>
            </a:r>
            <a:r>
              <a:rPr sz="1000" b="0">
                <a:solidFill>
                  <a:srgbClr val="5B616E"/>
                </a:solidFill>
                <a:latin typeface="Arial"/>
              </a:rPr>
              <a:t>  1.1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79" y="1927738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79" y="1927738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2148840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Интеграция источников данных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79" y="2211202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79" y="2211202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2432304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Модуль сегментации MCI + интерфейс сегментов</a:t>
            </a:r>
            <a:r>
              <a:rPr sz="1000" b="0">
                <a:solidFill>
                  <a:srgbClr val="5B616E"/>
                </a:solidFill>
                <a:latin typeface="Arial"/>
              </a:rPr>
              <a:t>  1.3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79" y="2494666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79" y="2494666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2715768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Автоматические контрольные группы на базе MCI</a:t>
            </a:r>
            <a:r>
              <a:rPr sz="1000" b="0">
                <a:solidFill>
                  <a:srgbClr val="5B616E"/>
                </a:solidFill>
                <a:latin typeface="Arial"/>
              </a:rPr>
              <a:t>  1.4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79" y="2778130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79" y="2778130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2999232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Движок персонализации текстов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79" y="3061594"/>
            <a:ext cx="2168271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79" y="3061594"/>
            <a:ext cx="2168271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3282696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Методология персонализации: сегмент → оффер</a:t>
            </a:r>
            <a:r>
              <a:rPr sz="1000" b="0">
                <a:solidFill>
                  <a:srgbClr val="5B616E"/>
                </a:solidFill>
                <a:latin typeface="Arial"/>
              </a:rPr>
              <a:t>  1.6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79" y="3345058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79" y="3345058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3566160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Перевод ДЦО-акций в персональный формат</a:t>
            </a:r>
            <a:r>
              <a:rPr sz="1000" b="0">
                <a:solidFill>
                  <a:srgbClr val="5B616E"/>
                </a:solidFill>
                <a:latin typeface="Arial"/>
              </a:rPr>
              <a:t>  1.7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79" y="3628522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79" y="3628522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3849624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База знаний: шаблоны, скиллы, tone of voice</a:t>
            </a:r>
            <a:r>
              <a:rPr sz="1000" b="0">
                <a:solidFill>
                  <a:srgbClr val="5B616E"/>
                </a:solidFill>
                <a:latin typeface="Arial"/>
              </a:rPr>
              <a:t>  1.8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22517" y="3911986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22517" y="3911986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133087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Бизнес-процесс планирования и заведения ДЦО</a:t>
            </a:r>
            <a:r>
              <a:rPr sz="1000" b="0">
                <a:solidFill>
                  <a:srgbClr val="5B616E"/>
                </a:solidFill>
                <a:latin typeface="Arial"/>
              </a:rPr>
              <a:t>  1.9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22517" y="4195450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22517" y="4195450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4416552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Пилот + постэффекты vs контрольная группа</a:t>
            </a:r>
            <a:r>
              <a:rPr sz="1000" b="0">
                <a:solidFill>
                  <a:srgbClr val="5B616E"/>
                </a:solidFill>
                <a:latin typeface="Arial"/>
              </a:rPr>
              <a:t>  1.10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22517" y="4478914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22517" y="4478914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4700016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Серверы под агентов: изолированные среды</a:t>
            </a:r>
            <a:r>
              <a:rPr sz="1000" b="0">
                <a:solidFill>
                  <a:srgbClr val="5B616E"/>
                </a:solidFill>
                <a:latin typeface="Arial"/>
              </a:rPr>
              <a:t>  1.12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22517" y="4762378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22517" y="4762378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983480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Безопасность: шифрование данных для агентов</a:t>
            </a:r>
            <a:r>
              <a:rPr sz="1000" b="0">
                <a:solidFill>
                  <a:srgbClr val="5B616E"/>
                </a:solidFill>
                <a:latin typeface="Arial"/>
              </a:rPr>
              <a:t>  1.13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22517" y="5045842"/>
            <a:ext cx="1415034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22517" y="5045842"/>
            <a:ext cx="1415034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266944"/>
            <a:ext cx="4928616" cy="2834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1E2F"/>
                </a:solidFill>
                <a:latin typeface="Arial"/>
              </a:rPr>
              <a:t>Управление этапом: статусы, демо, приёмка</a:t>
            </a:r>
            <a:r>
              <a:rPr sz="1000" b="0">
                <a:solidFill>
                  <a:srgbClr val="5B616E"/>
                </a:solidFill>
                <a:latin typeface="Arial"/>
              </a:rPr>
              <a:t>  1.11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669279" y="5329306"/>
            <a:ext cx="2168271" cy="15873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69279" y="5329306"/>
            <a:ext cx="2168271" cy="15873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1554480"/>
            <a:ext cx="11100816" cy="3995928"/>
          </a:xfrm>
          <a:prstGeom prst="rect">
            <a:avLst/>
          </a:prstGeom>
          <a:noFill/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6928" y="1266444"/>
            <a:ext cx="237744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7824" y="1225296"/>
            <a:ext cx="105156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Сделано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65376" y="1266444"/>
            <a:ext cx="237744" cy="14630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76272" y="1225296"/>
            <a:ext cx="105156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В работе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163824" y="1266444"/>
            <a:ext cx="237744" cy="146304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74720" y="1225296"/>
            <a:ext cx="105156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План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20640" y="1188720"/>
            <a:ext cx="6583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16E"/>
                </a:solidFill>
                <a:latin typeface="Arial"/>
              </a:rPr>
              <a:t>Этап 1 · 13 задач: 6 закрыто, 7 в работе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5870448"/>
            <a:ext cx="11155680" cy="5120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16E"/>
                </a:solidFill>
                <a:latin typeface="Arial"/>
              </a:rPr>
              <a:t>Пилот 1.10 застрял на загрузке маркетинговых списков в Campaign; обходной путь — портал → Firebase и агент-загрузчик списков.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16E"/>
                </a:solidFill>
                <a:latin typeface="Arial"/>
              </a:rPr>
              <a:t>Акции ДЦО по задаче 1.7 переданы на согласование в коммерческую дирекцию.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4980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347472"/>
            <a:ext cx="11064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E7203"/>
                </a:solidFill>
                <a:latin typeface="Arial"/>
              </a:rPr>
              <a:t>РОАДМЭП · ЭТАПЫ 2–4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603504"/>
            <a:ext cx="1115568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E1E2F"/>
                </a:solidFill>
                <a:latin typeface="Arial"/>
              </a:rPr>
              <a:t>С ноября — масштаб до 100 сегментов, затем 200 акций в месяц и дообучение агентов на откликах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37376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16E"/>
                </a:solidFill>
                <a:latin typeface="Arial"/>
              </a:rPr>
              <a:t>Внедрение ИИ в CVM · ДИКСИ · статус на 08.10.2026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7772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B616E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59" y="1554480"/>
            <a:ext cx="69608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авг.26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776847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76847" y="1554480"/>
            <a:ext cx="69608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сент.26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2933" y="1554480"/>
            <a:ext cx="696087" cy="310896"/>
          </a:xfrm>
          <a:prstGeom prst="rect">
            <a:avLst/>
          </a:prstGeom>
          <a:solidFill>
            <a:srgbClr val="1E1E2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2933" y="1554480"/>
            <a:ext cx="69608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окт.26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9021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9021" y="1554480"/>
            <a:ext cx="69608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ноя.26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5108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5108" y="1554480"/>
            <a:ext cx="69608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дек.26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1195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1195" y="1554480"/>
            <a:ext cx="69608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янв.27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57282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57282" y="1554480"/>
            <a:ext cx="69608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фев.27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53369" y="1554480"/>
            <a:ext cx="696087" cy="310896"/>
          </a:xfrm>
          <a:prstGeom prst="rect">
            <a:avLst/>
          </a:prstGeom>
          <a:solidFill>
            <a:srgbClr val="5B61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53369" y="1554480"/>
            <a:ext cx="696087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мар.27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86537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13969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41401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68833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96265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23697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51129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8561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059935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33425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60857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88289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15721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43153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705856"/>
            <a:ext cx="11100816" cy="274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980176"/>
            <a:ext cx="1110081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59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76847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72933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69021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65108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61195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57282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953369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49456" y="1865376"/>
            <a:ext cx="7315" cy="4389120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30114" y="1554480"/>
            <a:ext cx="20116" cy="470001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71746" y="1298448"/>
            <a:ext cx="1316736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E7203"/>
                </a:solidFill>
                <a:latin typeface="Arial"/>
              </a:rPr>
              <a:t>08.10 · 41 неделя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1865376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1865376"/>
            <a:ext cx="1091793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2 · ноябрь 2026 — январь 2027 · Полноценный CVM: 100 сегментов · 1 202 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213969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100 сегментов MCI в проекте: конфиг, обновление, выгрузки</a:t>
            </a:r>
            <a:r>
              <a:rPr sz="950" b="0">
                <a:solidFill>
                  <a:srgbClr val="5B616E"/>
                </a:solidFill>
                <a:latin typeface="Arial"/>
              </a:rPr>
              <a:t>  2.1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14741" y="220004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4741" y="2200046"/>
            <a:ext cx="1996821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241401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Конвейер генерации контента + контент под 100 сегментов</a:t>
            </a:r>
            <a:r>
              <a:rPr sz="950" b="0">
                <a:solidFill>
                  <a:srgbClr val="5B616E"/>
                </a:solidFill>
                <a:latin typeface="Arial"/>
              </a:rPr>
              <a:t>  2.2 · 2.7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14741" y="247436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4741" y="2474366"/>
            <a:ext cx="1996821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268833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Операционный интерфейс заведения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2.3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14741" y="274868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14741" y="2748686"/>
            <a:ext cx="1996821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296265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Деплинки, SKU и механики в конвейере</a:t>
            </a:r>
            <a:r>
              <a:rPr sz="950" b="0">
                <a:solidFill>
                  <a:srgbClr val="5B616E"/>
                </a:solidFill>
                <a:latin typeface="Arial"/>
              </a:rPr>
              <a:t>  2.4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14741" y="302300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14741" y="3023006"/>
            <a:ext cx="1996821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323697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Агенты: конструктор, оператор, дизайнер, оптимизатор</a:t>
            </a:r>
            <a:r>
              <a:rPr sz="950" b="0">
                <a:solidFill>
                  <a:srgbClr val="5B616E"/>
                </a:solidFill>
                <a:latin typeface="Arial"/>
              </a:rPr>
              <a:t>  2.5 · 2.13 · 2.15–2.16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14741" y="329732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14741" y="3297326"/>
            <a:ext cx="1996821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351129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Дашборд эффективности и постэффекты сегментных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2.6 · 2.14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14741" y="357164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14741" y="3571646"/>
            <a:ext cx="1996821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378561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Операционная часть заведения акций: настройка, расписание, QA</a:t>
            </a:r>
            <a:r>
              <a:rPr sz="950" b="0">
                <a:solidFill>
                  <a:srgbClr val="5B616E"/>
                </a:solidFill>
                <a:latin typeface="Arial"/>
              </a:rPr>
              <a:t>  2.8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22567" y="3845966"/>
            <a:ext cx="1300734" cy="153619"/>
          </a:xfrm>
          <a:prstGeom prst="roundRect">
            <a:avLst>
              <a:gd name="adj" fmla="val 45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22567" y="3845966"/>
            <a:ext cx="1300734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В работе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14741" y="384596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14741" y="3845966"/>
            <a:ext cx="1996821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4059935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Методология 100 сегментов, процесс, обучение команды заказчика</a:t>
            </a:r>
            <a:r>
              <a:rPr sz="950" b="0">
                <a:solidFill>
                  <a:srgbClr val="5B616E"/>
                </a:solidFill>
                <a:latin typeface="Arial"/>
              </a:rPr>
              <a:t>  2.9–2.12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14741" y="4120286"/>
            <a:ext cx="1996821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14741" y="4120286"/>
            <a:ext cx="1996821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334256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334256"/>
            <a:ext cx="1091793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3 · февраль 2027 · Масштаб + простая оптимизация · 310 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460857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200 акций через конвейер + автоподбор оффера и сегмента</a:t>
            </a:r>
            <a:r>
              <a:rPr sz="950" b="0">
                <a:solidFill>
                  <a:srgbClr val="5B616E"/>
                </a:solidFill>
                <a:latin typeface="Arial"/>
              </a:rPr>
              <a:t>  3.2 · 3.3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303002" y="466892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03002" y="4668926"/>
            <a:ext cx="604647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488289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Стабилизация интерфейса, отчёт по эффекту, передача сервиса</a:t>
            </a:r>
            <a:r>
              <a:rPr sz="950" b="0">
                <a:solidFill>
                  <a:srgbClr val="5B616E"/>
                </a:solidFill>
                <a:latin typeface="Arial"/>
              </a:rPr>
              <a:t>  3.1 · 3.4–3.6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303002" y="494324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03002" y="4943246"/>
            <a:ext cx="604647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5157216"/>
            <a:ext cx="11100816" cy="274320"/>
          </a:xfrm>
          <a:prstGeom prst="rect">
            <a:avLst/>
          </a:prstGeom>
          <a:solidFill>
            <a:srgbClr val="FD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5157216"/>
            <a:ext cx="1091793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E7203"/>
                </a:solidFill>
                <a:latin typeface="Arial"/>
              </a:rPr>
              <a:t>ЭТАП 4 · март 2027 · Дообучение на откликах и ограничения товаров · 299 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43153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Витрина откликов клиентов, дообучение и калибровка агентов</a:t>
            </a:r>
            <a:r>
              <a:rPr sz="950" b="0">
                <a:solidFill>
                  <a:srgbClr val="5B616E"/>
                </a:solidFill>
                <a:latin typeface="Arial"/>
              </a:rPr>
              <a:t>  4.1–4.4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999089" y="549188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999089" y="5491886"/>
            <a:ext cx="604647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570585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Стоп-листы товаров и ограничения в конструкторе акций</a:t>
            </a:r>
            <a:r>
              <a:rPr sz="950" b="0">
                <a:solidFill>
                  <a:srgbClr val="5B616E"/>
                </a:solidFill>
                <a:latin typeface="Arial"/>
              </a:rPr>
              <a:t>  4.5 · 4.6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999089" y="576620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999089" y="5766206"/>
            <a:ext cx="604647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5980176"/>
            <a:ext cx="5385816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1E2F"/>
                </a:solidFill>
                <a:latin typeface="Arial"/>
              </a:rPr>
              <a:t>Коррекция методологии по итогам пилота, итоговая аналитика</a:t>
            </a:r>
            <a:r>
              <a:rPr sz="950" b="0">
                <a:solidFill>
                  <a:srgbClr val="5B616E"/>
                </a:solidFill>
                <a:latin typeface="Arial"/>
              </a:rPr>
              <a:t>  4.7–4.10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999089" y="6040526"/>
            <a:ext cx="604647" cy="153619"/>
          </a:xfrm>
          <a:prstGeom prst="roundRect">
            <a:avLst>
              <a:gd name="adj" fmla="val 4500"/>
            </a:avLst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999089" y="6040526"/>
            <a:ext cx="604647" cy="15361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План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1554480"/>
            <a:ext cx="11100816" cy="4700016"/>
          </a:xfrm>
          <a:prstGeom prst="rect">
            <a:avLst/>
          </a:prstGeom>
          <a:noFill/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66928" y="1266444"/>
            <a:ext cx="237744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77824" y="1225296"/>
            <a:ext cx="105156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Сделано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65376" y="1266444"/>
            <a:ext cx="237744" cy="146304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176272" y="1225296"/>
            <a:ext cx="105156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В работе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63824" y="1266444"/>
            <a:ext cx="237744" cy="146304"/>
          </a:xfrm>
          <a:prstGeom prst="rect">
            <a:avLst/>
          </a:prstGeom>
          <a:solidFill>
            <a:srgbClr val="B9B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74720" y="1225296"/>
            <a:ext cx="105156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16E"/>
                </a:solidFill>
                <a:latin typeface="Arial"/>
              </a:rPr>
              <a:t>План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